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JetBrains Mono" panose="020B0600000101010101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C488"/>
    <a:srgbClr val="163027"/>
    <a:srgbClr val="10C88C"/>
    <a:srgbClr val="FF99FF"/>
    <a:srgbClr val="DEA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32A2A-4808-4FE6-9574-94F0112CCD8C}">
  <a:tblStyle styleId="{5B932A2A-4808-4FE6-9574-94F0112CCD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6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6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1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4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4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6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864330" y="923070"/>
            <a:ext cx="1046333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Backend &amp; Infrastructure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Engineering Portfolio</a:t>
            </a:r>
            <a:endParaRPr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1113533" y="2585063"/>
            <a:ext cx="996508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Stateless JWT + RTR + Redis Blacklist </a:t>
            </a:r>
            <a:r>
              <a:rPr lang="ko-KR" altLang="en-US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실시간 세션 제어</a:t>
            </a:r>
            <a:r>
              <a:rPr lang="en-US" altLang="ko-KR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, Docker 7</a:t>
            </a:r>
            <a:r>
              <a:rPr lang="ko-KR" altLang="en-US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개 컨테이너 격리 인프라</a:t>
            </a:r>
            <a:r>
              <a:rPr lang="en-US" altLang="ko-KR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, k6 70 VU </a:t>
            </a:r>
            <a:r>
              <a:rPr lang="ko-KR" altLang="en-US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부하 검증 및 </a:t>
            </a:r>
            <a:r>
              <a:rPr lang="en-US" altLang="ko-KR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SA-1 </a:t>
            </a:r>
            <a:r>
              <a:rPr lang="ko-KR" altLang="en-US" b="0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거버넌스 기반의 엔지니어링 포트폴리오</a:t>
            </a:r>
            <a:endParaRPr sz="1100" dirty="0"/>
          </a:p>
        </p:txBody>
      </p:sp>
      <p:sp>
        <p:nvSpPr>
          <p:cNvPr id="59" name="Google Shape;59;p14"/>
          <p:cNvSpPr txBox="1"/>
          <p:nvPr/>
        </p:nvSpPr>
        <p:spPr>
          <a:xfrm>
            <a:off x="2286001" y="3331733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프레임워크의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원리를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이해하고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컨테이너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환경에서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격리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실행하며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부하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장애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분석으로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증명하는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엔지니어</a:t>
            </a:r>
            <a:r>
              <a:rPr lang="en-US" sz="15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dirty="0"/>
          </a:p>
        </p:txBody>
      </p:sp>
      <p:pic>
        <p:nvPicPr>
          <p:cNvPr id="5" name="Google Shape;176;p19" descr="image.png">
            <a:extLst>
              <a:ext uri="{FF2B5EF4-FFF2-40B4-BE49-F238E27FC236}">
                <a16:creationId xmlns:a16="http://schemas.microsoft.com/office/drawing/2014/main" id="{2CD186E9-5B0F-E2DF-D1B5-7A0AF77180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8870" y="4393816"/>
            <a:ext cx="2031271" cy="187259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87;p19">
            <a:extLst>
              <a:ext uri="{FF2B5EF4-FFF2-40B4-BE49-F238E27FC236}">
                <a16:creationId xmlns:a16="http://schemas.microsoft.com/office/drawing/2014/main" id="{88A0B57D-0072-B969-499A-60DFD1B63C9F}"/>
              </a:ext>
            </a:extLst>
          </p:cNvPr>
          <p:cNvSpPr txBox="1"/>
          <p:nvPr/>
        </p:nvSpPr>
        <p:spPr>
          <a:xfrm>
            <a:off x="1611991" y="5111400"/>
            <a:ext cx="16138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bluejals13/26-05adf</a:t>
            </a:r>
            <a:endParaRPr sz="1800" dirty="0"/>
          </a:p>
        </p:txBody>
      </p:sp>
      <p:sp>
        <p:nvSpPr>
          <p:cNvPr id="27" name="Google Shape;113;p16">
            <a:extLst>
              <a:ext uri="{FF2B5EF4-FFF2-40B4-BE49-F238E27FC236}">
                <a16:creationId xmlns:a16="http://schemas.microsoft.com/office/drawing/2014/main" id="{1DFB2AF7-73B8-B646-5436-FEA32FC90FA0}"/>
              </a:ext>
            </a:extLst>
          </p:cNvPr>
          <p:cNvSpPr/>
          <p:nvPr/>
        </p:nvSpPr>
        <p:spPr>
          <a:xfrm>
            <a:off x="1611991" y="5827341"/>
            <a:ext cx="1386092" cy="257175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feature/auth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88;p19">
            <a:extLst>
              <a:ext uri="{FF2B5EF4-FFF2-40B4-BE49-F238E27FC236}">
                <a16:creationId xmlns:a16="http://schemas.microsoft.com/office/drawing/2014/main" id="{6F884795-C439-5742-A458-BBB489BF4ADD}"/>
              </a:ext>
            </a:extLst>
          </p:cNvPr>
          <p:cNvSpPr txBox="1"/>
          <p:nvPr/>
        </p:nvSpPr>
        <p:spPr>
          <a:xfrm>
            <a:off x="1611991" y="4591206"/>
            <a:ext cx="161380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Application Source</a:t>
            </a:r>
            <a:endParaRPr sz="1800" dirty="0"/>
          </a:p>
        </p:txBody>
      </p:sp>
      <p:pic>
        <p:nvPicPr>
          <p:cNvPr id="32" name="Google Shape;176;p19" descr="image.png">
            <a:extLst>
              <a:ext uri="{FF2B5EF4-FFF2-40B4-BE49-F238E27FC236}">
                <a16:creationId xmlns:a16="http://schemas.microsoft.com/office/drawing/2014/main" id="{717B652C-201F-D611-ED87-5FA423589D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3262" y="4393816"/>
            <a:ext cx="2031271" cy="187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187;p19">
            <a:extLst>
              <a:ext uri="{FF2B5EF4-FFF2-40B4-BE49-F238E27FC236}">
                <a16:creationId xmlns:a16="http://schemas.microsoft.com/office/drawing/2014/main" id="{6818EC24-332F-96BA-1A5D-69F7AC88CECF}"/>
              </a:ext>
            </a:extLst>
          </p:cNvPr>
          <p:cNvSpPr txBox="1"/>
          <p:nvPr/>
        </p:nvSpPr>
        <p:spPr>
          <a:xfrm>
            <a:off x="3826383" y="5111400"/>
            <a:ext cx="16138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bluejals13/SA-1</a:t>
            </a:r>
          </a:p>
        </p:txBody>
      </p:sp>
      <p:sp>
        <p:nvSpPr>
          <p:cNvPr id="36" name="Google Shape;113;p16">
            <a:extLst>
              <a:ext uri="{FF2B5EF4-FFF2-40B4-BE49-F238E27FC236}">
                <a16:creationId xmlns:a16="http://schemas.microsoft.com/office/drawing/2014/main" id="{7D33216F-97FD-29F8-C7D6-13CCCA22ED12}"/>
              </a:ext>
            </a:extLst>
          </p:cNvPr>
          <p:cNvSpPr/>
          <p:nvPr/>
        </p:nvSpPr>
        <p:spPr>
          <a:xfrm>
            <a:off x="3826383" y="5827341"/>
            <a:ext cx="771017" cy="257175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88;p19">
            <a:extLst>
              <a:ext uri="{FF2B5EF4-FFF2-40B4-BE49-F238E27FC236}">
                <a16:creationId xmlns:a16="http://schemas.microsoft.com/office/drawing/2014/main" id="{85560269-1658-225E-527D-EDA51EA4BFDE}"/>
              </a:ext>
            </a:extLst>
          </p:cNvPr>
          <p:cNvSpPr txBox="1"/>
          <p:nvPr/>
        </p:nvSpPr>
        <p:spPr>
          <a:xfrm>
            <a:off x="3826383" y="4591206"/>
            <a:ext cx="161380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AI Process Source</a:t>
            </a:r>
            <a:endParaRPr sz="1800" dirty="0"/>
          </a:p>
        </p:txBody>
      </p:sp>
      <p:pic>
        <p:nvPicPr>
          <p:cNvPr id="40" name="Google Shape;176;p19" descr="image.png">
            <a:extLst>
              <a:ext uri="{FF2B5EF4-FFF2-40B4-BE49-F238E27FC236}">
                <a16:creationId xmlns:a16="http://schemas.microsoft.com/office/drawing/2014/main" id="{B90B65FB-789D-9F85-64F7-F521B3E1A9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346" y="4393816"/>
            <a:ext cx="2031271" cy="18725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87;p19">
            <a:extLst>
              <a:ext uri="{FF2B5EF4-FFF2-40B4-BE49-F238E27FC236}">
                <a16:creationId xmlns:a16="http://schemas.microsoft.com/office/drawing/2014/main" id="{AA0A637D-3F0E-990F-06B3-775879616966}"/>
              </a:ext>
            </a:extLst>
          </p:cNvPr>
          <p:cNvSpPr txBox="1"/>
          <p:nvPr/>
        </p:nvSpPr>
        <p:spPr>
          <a:xfrm>
            <a:off x="6517467" y="5111400"/>
            <a:ext cx="16138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JUnit 10</a:t>
            </a:r>
            <a:r>
              <a:rPr lang="ko-KR" alt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종 </a:t>
            </a:r>
            <a:r>
              <a:rPr lang="en-US" altLang="ko-KR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Pass</a:t>
            </a:r>
            <a:endParaRPr sz="1800" dirty="0"/>
          </a:p>
        </p:txBody>
      </p:sp>
      <p:sp>
        <p:nvSpPr>
          <p:cNvPr id="44" name="Google Shape;113;p16">
            <a:extLst>
              <a:ext uri="{FF2B5EF4-FFF2-40B4-BE49-F238E27FC236}">
                <a16:creationId xmlns:a16="http://schemas.microsoft.com/office/drawing/2014/main" id="{FE331ADA-A70D-6242-7A85-ACC18DFB4B77}"/>
              </a:ext>
            </a:extLst>
          </p:cNvPr>
          <p:cNvSpPr/>
          <p:nvPr/>
        </p:nvSpPr>
        <p:spPr>
          <a:xfrm>
            <a:off x="6517467" y="5827341"/>
            <a:ext cx="1000933" cy="257175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188;p19">
            <a:extLst>
              <a:ext uri="{FF2B5EF4-FFF2-40B4-BE49-F238E27FC236}">
                <a16:creationId xmlns:a16="http://schemas.microsoft.com/office/drawing/2014/main" id="{DAA441FE-7763-CCEF-281D-2711F9C663E0}"/>
              </a:ext>
            </a:extLst>
          </p:cNvPr>
          <p:cNvSpPr txBox="1"/>
          <p:nvPr/>
        </p:nvSpPr>
        <p:spPr>
          <a:xfrm>
            <a:off x="6517467" y="4591206"/>
            <a:ext cx="161380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Testing Suite</a:t>
            </a:r>
            <a:endParaRPr sz="1800" dirty="0"/>
          </a:p>
        </p:txBody>
      </p:sp>
      <p:pic>
        <p:nvPicPr>
          <p:cNvPr id="48" name="Google Shape;176;p19" descr="image.png">
            <a:extLst>
              <a:ext uri="{FF2B5EF4-FFF2-40B4-BE49-F238E27FC236}">
                <a16:creationId xmlns:a16="http://schemas.microsoft.com/office/drawing/2014/main" id="{6D519439-0CA6-7D1A-785D-97981181F9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48738" y="4393816"/>
            <a:ext cx="2031271" cy="187259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187;p19">
            <a:extLst>
              <a:ext uri="{FF2B5EF4-FFF2-40B4-BE49-F238E27FC236}">
                <a16:creationId xmlns:a16="http://schemas.microsoft.com/office/drawing/2014/main" id="{E17584D6-6628-9F75-AA0A-5D02CD1F97FB}"/>
              </a:ext>
            </a:extLst>
          </p:cNvPr>
          <p:cNvSpPr txBox="1"/>
          <p:nvPr/>
        </p:nvSpPr>
        <p:spPr>
          <a:xfrm>
            <a:off x="8731859" y="5111400"/>
            <a:ext cx="16138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70 VU /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5.64ms Avg</a:t>
            </a:r>
          </a:p>
        </p:txBody>
      </p:sp>
      <p:sp>
        <p:nvSpPr>
          <p:cNvPr id="52" name="Google Shape;113;p16">
            <a:extLst>
              <a:ext uri="{FF2B5EF4-FFF2-40B4-BE49-F238E27FC236}">
                <a16:creationId xmlns:a16="http://schemas.microsoft.com/office/drawing/2014/main" id="{D7C7229E-F700-6C29-C2EF-8BB6D208CDFB}"/>
              </a:ext>
            </a:extLst>
          </p:cNvPr>
          <p:cNvSpPr/>
          <p:nvPr/>
        </p:nvSpPr>
        <p:spPr>
          <a:xfrm>
            <a:off x="8731859" y="5827341"/>
            <a:ext cx="1386092" cy="257175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0% ERROR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188;p19">
            <a:extLst>
              <a:ext uri="{FF2B5EF4-FFF2-40B4-BE49-F238E27FC236}">
                <a16:creationId xmlns:a16="http://schemas.microsoft.com/office/drawing/2014/main" id="{2F2DFE63-3D72-F184-81E1-2E3ADA3D46E3}"/>
              </a:ext>
            </a:extLst>
          </p:cNvPr>
          <p:cNvSpPr txBox="1"/>
          <p:nvPr/>
        </p:nvSpPr>
        <p:spPr>
          <a:xfrm>
            <a:off x="8731859" y="4591206"/>
            <a:ext cx="161380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k6 Load Benchmark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05820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410620"/>
            <a:ext cx="2536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12033" y="1905545"/>
            <a:ext cx="2536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3042" y="4410621"/>
            <a:ext cx="2536775" cy="192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4050" y="2134145"/>
            <a:ext cx="253677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87413" y="4610645"/>
            <a:ext cx="323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27631" y="5010695"/>
            <a:ext cx="224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dirty="0" err="1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아키텍쳐</a:t>
            </a: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ko-KR" altLang="en-US" sz="1500" b="1" i="0" u="none" strike="noStrike" cap="none" dirty="0" err="1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구조</a:t>
            </a:r>
            <a:endParaRPr dirty="0"/>
          </a:p>
        </p:txBody>
      </p:sp>
      <p:sp>
        <p:nvSpPr>
          <p:cNvPr id="73" name="Google Shape;73;p15"/>
          <p:cNvSpPr txBox="1"/>
          <p:nvPr/>
        </p:nvSpPr>
        <p:spPr>
          <a:xfrm>
            <a:off x="781050" y="5315495"/>
            <a:ext cx="213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 Java 17 Record DTO</a:t>
            </a: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dirty="0">
                <a:solidFill>
                  <a:srgbClr val="C4C8CC"/>
                </a:solidFill>
              </a:rPr>
              <a:t>-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Flyway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스키마</a:t>
            </a:r>
            <a:endParaRPr lang="en-US" altLang="ko-KR" sz="1125" b="0" i="0" u="none" strike="noStrike" cap="none" dirty="0">
              <a:solidFill>
                <a:srgbClr val="C4C8CC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 JPA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검증 표준화</a:t>
            </a:r>
            <a:endParaRPr lang="ko-KR" altLang="en-US" dirty="0"/>
          </a:p>
        </p:txBody>
      </p:sp>
      <p:pic>
        <p:nvPicPr>
          <p:cNvPr id="74" name="Google Shape;7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18421" y="2105570"/>
            <a:ext cx="323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558640" y="2505620"/>
            <a:ext cx="224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인증 </a:t>
            </a:r>
            <a:r>
              <a:rPr lang="en-US" altLang="ko-KR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프론트 </a:t>
            </a:r>
            <a:r>
              <a:rPr lang="en-US" altLang="ko-KR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3612058" y="2810420"/>
            <a:ext cx="213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altLang="ko-KR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JWT·Redis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endParaRPr lang="en-US" altLang="ko-KR" sz="1125" b="0" i="0" u="none" strike="noStrike" cap="none" dirty="0">
              <a:solidFill>
                <a:srgbClr val="C4C8CC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Zustand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기반 인증 상태 </a:t>
            </a:r>
            <a:endParaRPr lang="en-US" altLang="ko-KR" sz="1125" b="0" i="0" u="none" strike="noStrike" cap="none" dirty="0">
              <a:solidFill>
                <a:srgbClr val="C4C8CC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dirty="0">
                <a:solidFill>
                  <a:srgbClr val="C4C8CC"/>
                </a:solidFill>
              </a:rPr>
              <a:t>- Refresh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복구 구현</a:t>
            </a:r>
            <a:endParaRPr dirty="0"/>
          </a:p>
        </p:txBody>
      </p:sp>
      <p:pic>
        <p:nvPicPr>
          <p:cNvPr id="77" name="Google Shape;7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49430" y="4610645"/>
            <a:ext cx="323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6389649" y="5010695"/>
            <a:ext cx="224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dirty="0">
                <a:solidFill>
                  <a:srgbClr val="F3F4F6"/>
                </a:solidFill>
              </a:rPr>
              <a:t>최적화</a:t>
            </a: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&amp; DB </a:t>
            </a:r>
            <a:r>
              <a:rPr lang="ko-KR" altLang="en-US" sz="1500" b="1" dirty="0">
                <a:solidFill>
                  <a:srgbClr val="F3F4F6"/>
                </a:solidFill>
              </a:rPr>
              <a:t>동기화</a:t>
            </a:r>
            <a:endParaRPr dirty="0"/>
          </a:p>
        </p:txBody>
      </p:sp>
      <p:sp>
        <p:nvSpPr>
          <p:cNvPr id="79" name="Google Shape;79;p15"/>
          <p:cNvSpPr txBox="1"/>
          <p:nvPr/>
        </p:nvSpPr>
        <p:spPr>
          <a:xfrm>
            <a:off x="6443067" y="5315495"/>
            <a:ext cx="2136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 JPA N+1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제거</a:t>
            </a:r>
            <a:endParaRPr lang="en-US" altLang="ko-KR" sz="1125" b="0" i="0" u="none" strike="noStrike" cap="none" dirty="0">
              <a:solidFill>
                <a:srgbClr val="C4C8CC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dirty="0">
                <a:solidFill>
                  <a:srgbClr val="C4C8CC"/>
                </a:solidFill>
              </a:rPr>
              <a:t>-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React Query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캐시</a:t>
            </a:r>
            <a:endParaRPr lang="en-US" altLang="ko-KR" sz="1125" dirty="0">
              <a:solidFill>
                <a:srgbClr val="C4C8CC"/>
              </a:solidFill>
            </a:endParaRPr>
          </a:p>
          <a:p>
            <a:pPr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요청 최적화</a:t>
            </a:r>
            <a:endParaRPr dirty="0"/>
          </a:p>
        </p:txBody>
      </p:sp>
      <p:pic>
        <p:nvPicPr>
          <p:cNvPr id="80" name="Google Shape;8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80439" y="2334170"/>
            <a:ext cx="3238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9220657" y="2734220"/>
            <a:ext cx="2243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운영 </a:t>
            </a:r>
            <a:r>
              <a:rPr lang="en-US" altLang="ko-KR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lang="ko-KR" alt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검증 테스트</a:t>
            </a:r>
            <a:endParaRPr dirty="0"/>
          </a:p>
        </p:txBody>
      </p:sp>
      <p:sp>
        <p:nvSpPr>
          <p:cNvPr id="82" name="Google Shape;82;p15"/>
          <p:cNvSpPr txBox="1"/>
          <p:nvPr/>
        </p:nvSpPr>
        <p:spPr>
          <a:xfrm>
            <a:off x="9274075" y="3039020"/>
            <a:ext cx="2136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25" dirty="0">
                <a:solidFill>
                  <a:srgbClr val="C4C8CC"/>
                </a:solidFill>
              </a:rPr>
              <a:t>- </a:t>
            </a:r>
            <a:r>
              <a:rPr lang="ko-KR" altLang="en-US" sz="1125" dirty="0" err="1">
                <a:solidFill>
                  <a:srgbClr val="C4C8CC"/>
                </a:solidFill>
              </a:rPr>
              <a:t>도커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서버 구축</a:t>
            </a:r>
            <a:endParaRPr lang="en-US" altLang="ko-KR" sz="1125" b="0" i="0" u="none" strike="noStrike" cap="none" dirty="0">
              <a:solidFill>
                <a:srgbClr val="C4C8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25" dirty="0">
                <a:solidFill>
                  <a:srgbClr val="C4C8CC"/>
                </a:solidFill>
              </a:rPr>
              <a:t>-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부하 테스트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k6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성능 검증</a:t>
            </a:r>
            <a:endParaRPr dirty="0"/>
          </a:p>
        </p:txBody>
      </p:sp>
      <p:sp>
        <p:nvSpPr>
          <p:cNvPr id="83" name="Google Shape;83;p15"/>
          <p:cNvSpPr/>
          <p:nvPr/>
        </p:nvSpPr>
        <p:spPr>
          <a:xfrm>
            <a:off x="1735112" y="4010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2427"/>
          </a:solidFill>
          <a:ln w="2857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566121" y="4010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2427"/>
          </a:solidFill>
          <a:ln w="2857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7397129" y="4010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2427"/>
          </a:solidFill>
          <a:ln w="2857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0228138" y="401057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2427"/>
          </a:solidFill>
          <a:ln w="2857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81025" y="525050"/>
            <a:ext cx="992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기술 타임라인</a:t>
            </a:r>
            <a:endParaRPr dirty="0"/>
          </a:p>
        </p:txBody>
      </p:sp>
      <p:sp>
        <p:nvSpPr>
          <p:cNvPr id="88" name="Google Shape;88;p15"/>
          <p:cNvSpPr/>
          <p:nvPr/>
        </p:nvSpPr>
        <p:spPr>
          <a:xfrm>
            <a:off x="581025" y="1101725"/>
            <a:ext cx="11030100" cy="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3;p16">
            <a:extLst>
              <a:ext uri="{FF2B5EF4-FFF2-40B4-BE49-F238E27FC236}">
                <a16:creationId xmlns:a16="http://schemas.microsoft.com/office/drawing/2014/main" id="{9D0217A2-1639-7E5F-356A-5BF83E6DB9E2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02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39429"/>
            <a:ext cx="3524250" cy="399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339429"/>
            <a:ext cx="3524250" cy="399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339429"/>
            <a:ext cx="3524250" cy="39973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581025" y="1874639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Core Engineering Dilemmas &amp; Hard Requirements</a:t>
            </a:r>
            <a:endParaRPr dirty="0"/>
          </a:p>
        </p:txBody>
      </p:sp>
      <p:pic>
        <p:nvPicPr>
          <p:cNvPr id="99" name="Google Shape;9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663279"/>
            <a:ext cx="91454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876299" y="3044279"/>
            <a:ext cx="268640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실무형 시스템 구축</a:t>
            </a:r>
            <a:endParaRPr dirty="0"/>
          </a:p>
        </p:txBody>
      </p:sp>
      <p:sp>
        <p:nvSpPr>
          <p:cNvPr id="101" name="Google Shape;101;p16"/>
          <p:cNvSpPr txBox="1"/>
          <p:nvPr/>
        </p:nvSpPr>
        <p:spPr>
          <a:xfrm>
            <a:off x="876300" y="3539112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데이터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모니터링이 결합된 실제 서비스 수준의 기술 과제를 경험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02" name="Google Shape;102;p16"/>
          <p:cNvSpPr txBox="1"/>
          <p:nvPr/>
        </p:nvSpPr>
        <p:spPr>
          <a:xfrm>
            <a:off x="876300" y="4734347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Need: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기능 구현에 그치지 않고 보안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성능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운영까지 하나의 시스템으로 검증할 필요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03" name="Google Shape;10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663279"/>
            <a:ext cx="91454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4629150" y="3044279"/>
            <a:ext cx="278956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기술적 문제를 구조적으로 해결하는 설계</a:t>
            </a:r>
            <a:endParaRPr dirty="0"/>
          </a:p>
        </p:txBody>
      </p:sp>
      <p:sp>
        <p:nvSpPr>
          <p:cNvPr id="105" name="Google Shape;105;p16"/>
          <p:cNvSpPr txBox="1"/>
          <p:nvPr/>
        </p:nvSpPr>
        <p:spPr>
          <a:xfrm>
            <a:off x="4629150" y="3539112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Impact: JWT, Redis, JPA, React Query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등 계층별 문제를 개별 수정이 아닌 구조 개선으로 해결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06" name="Google Shape;106;p16"/>
          <p:cNvSpPr txBox="1"/>
          <p:nvPr/>
        </p:nvSpPr>
        <p:spPr>
          <a:xfrm>
            <a:off x="4629150" y="4734347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Need: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문제 발생 지점뿐 아니라 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Backend–Frontend–Infra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전체 흐름을 고려한 설계 필요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07" name="Google Shape;10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0" y="2663279"/>
            <a:ext cx="91454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8382000" y="3044279"/>
            <a:ext cx="284941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구현 결과의 정량적 검증 가능한 시스템</a:t>
            </a:r>
            <a:endParaRPr dirty="0"/>
          </a:p>
        </p:txBody>
      </p:sp>
      <p:sp>
        <p:nvSpPr>
          <p:cNvPr id="109" name="Google Shape;109;p16"/>
          <p:cNvSpPr txBox="1"/>
          <p:nvPr/>
        </p:nvSpPr>
        <p:spPr>
          <a:xfrm>
            <a:off x="8382000" y="3539112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Impact:k6·Actuator·Prometheus·Grafana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를 통해 성능과 안정성을 수치와 상태로 확인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0" name="Google Shape;110;p16"/>
          <p:cNvSpPr txBox="1"/>
          <p:nvPr/>
        </p:nvSpPr>
        <p:spPr>
          <a:xfrm>
            <a:off x="8382000" y="4734347"/>
            <a:ext cx="29337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Need: “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구현했다” 는 결과보다 실제 테스트 조건에서 동작과 개선 효과를 증명할 필요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11" name="Google Shape;111;p16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81025" y="521175"/>
            <a:ext cx="992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F9FAFB"/>
                </a:solidFill>
              </a:rPr>
              <a:t>배경 </a:t>
            </a:r>
            <a:r>
              <a:rPr lang="en-US" altLang="ko-KR" sz="3000" dirty="0">
                <a:solidFill>
                  <a:srgbClr val="F9FAFB"/>
                </a:solidFill>
              </a:rPr>
              <a:t>/ </a:t>
            </a:r>
            <a:r>
              <a:rPr lang="ko-KR" altLang="en-US" sz="3000" dirty="0">
                <a:solidFill>
                  <a:srgbClr val="F9FAFB"/>
                </a:solidFill>
              </a:rPr>
              <a:t>주제 선정</a:t>
            </a:r>
            <a:endParaRPr sz="3000" dirty="0">
              <a:solidFill>
                <a:srgbClr val="F3F4F6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03</a:t>
            </a:r>
            <a:endParaRPr b="1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581025" y="1676548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Defensive Engineering &amp; Resilience Strategies</a:t>
            </a:r>
            <a:endParaRPr/>
          </a:p>
        </p:txBody>
      </p:sp>
      <p:graphicFrame>
        <p:nvGraphicFramePr>
          <p:cNvPr id="120" name="Google Shape;120;p17"/>
          <p:cNvGraphicFramePr/>
          <p:nvPr>
            <p:extLst>
              <p:ext uri="{D42A27DB-BD31-4B8C-83A1-F6EECF244321}">
                <p14:modId xmlns:p14="http://schemas.microsoft.com/office/powerpoint/2010/main" val="1584821778"/>
              </p:ext>
            </p:extLst>
          </p:nvPr>
        </p:nvGraphicFramePr>
        <p:xfrm>
          <a:off x="585787" y="2081170"/>
          <a:ext cx="11020425" cy="4307828"/>
        </p:xfrm>
        <a:graphic>
          <a:graphicData uri="http://schemas.openxmlformats.org/drawingml/2006/table">
            <a:tbl>
              <a:tblPr firstRow="1" bandRow="1">
                <a:noFill/>
                <a:tableStyleId>{5B932A2A-4808-4FE6-9574-94F0112CCD8C}</a:tableStyleId>
              </a:tblPr>
              <a:tblGrid>
                <a:gridCol w="17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2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엔지니어링</a:t>
                      </a: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도메인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기존</a:t>
                      </a: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</a:t>
                      </a: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한계</a:t>
                      </a: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(Before)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APMS.SR </a:t>
                      </a: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솔루션</a:t>
                      </a: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 (After)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3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보안</a:t>
                      </a:r>
                      <a:r>
                        <a:rPr lang="en-US" sz="1350" b="1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아키텍처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단순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세션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메모리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병목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vs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단순 JWT(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발급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후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통제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불가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탈취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토큰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재사용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취약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Blacklist + RTR + Active/Inactive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토큰 폐기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재발급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세션 상태를 서버에서 통제해 즉각 대응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Redis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장애 시 인증 처리 의존성 증가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88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인프라</a:t>
                      </a:r>
                      <a:r>
                        <a:rPr lang="en-US" sz="1350" b="1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&amp; </a:t>
                      </a: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네트워크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호스트 포트 직접 노출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en-US" altLang="ko-KR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Backend·DB·Redis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 외부 인터페이스에 노출되어 포트 스캔 및 직접 접근 위험이 존재하며 서비스별 네트워크 경계가 약함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Nginx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단일 </a:t>
                      </a:r>
                      <a:r>
                        <a:rPr lang="ko-KR" alt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진입점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Docker </a:t>
                      </a:r>
                      <a:r>
                        <a:rPr lang="ko-KR" alt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내부망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 접근을 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Nginx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 제한하고 </a:t>
                      </a:r>
                      <a:r>
                        <a:rPr lang="en-US" altLang="ko-KR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Backend·DB·Redis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를 내부 네트워크로 격리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대신 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Nginx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및 </a:t>
                      </a:r>
                      <a:r>
                        <a:rPr lang="en-US" altLang="ko-KR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 </a:t>
                      </a:r>
                      <a:r>
                        <a:rPr lang="ko-KR" alt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네트워크 의존성 증가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</a:t>
                      </a:r>
                      <a:r>
                        <a:rPr lang="en-US" sz="1350" b="1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복원력</a:t>
                      </a:r>
                      <a:r>
                        <a:rPr lang="en-US" sz="1350" b="1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&amp; </a:t>
                      </a:r>
                      <a:r>
                        <a:rPr lang="en-US" sz="1350" b="1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다운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시 60초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블로킹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갱신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실패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시 401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무한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루프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추정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기반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수치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주장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Lettuce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타임아웃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2초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단축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클라이언트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탈출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조건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+ 10종 JUnit &amp; k6 70 VU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실측치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(Avg 5.64ms, 0% Error)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Google Shape;121;p17"/>
          <p:cNvSpPr/>
          <p:nvPr/>
        </p:nvSpPr>
        <p:spPr>
          <a:xfrm>
            <a:off x="585787" y="2732782"/>
            <a:ext cx="275510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340893" y="2732782"/>
            <a:ext cx="385702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197923" y="2732782"/>
            <a:ext cx="440828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85787" y="3843337"/>
            <a:ext cx="275510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340893" y="3843337"/>
            <a:ext cx="385702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197923" y="3843337"/>
            <a:ext cx="440828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85787" y="4953892"/>
            <a:ext cx="275510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340893" y="4953892"/>
            <a:ext cx="385702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197923" y="4953892"/>
            <a:ext cx="440828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81025" y="571400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목표 </a:t>
            </a:r>
            <a:r>
              <a:rPr lang="en-US" altLang="ko-KR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솔루션 아키텍처</a:t>
            </a:r>
            <a:endParaRPr dirty="0"/>
          </a:p>
        </p:txBody>
      </p:sp>
      <p:sp>
        <p:nvSpPr>
          <p:cNvPr id="134" name="Google Shape;134;p17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04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35;p17">
            <a:extLst>
              <a:ext uri="{FF2B5EF4-FFF2-40B4-BE49-F238E27FC236}">
                <a16:creationId xmlns:a16="http://schemas.microsoft.com/office/drawing/2014/main" id="{5F480F0A-3EB5-E3CD-E90B-D406FAA8FB68}"/>
              </a:ext>
            </a:extLst>
          </p:cNvPr>
          <p:cNvSpPr/>
          <p:nvPr/>
        </p:nvSpPr>
        <p:spPr>
          <a:xfrm>
            <a:off x="6732188" y="2767560"/>
            <a:ext cx="1517257" cy="212211"/>
          </a:xfrm>
          <a:prstGeom prst="roundRect">
            <a:avLst>
              <a:gd name="adj" fmla="val 34186"/>
            </a:avLst>
          </a:prstGeom>
          <a:solidFill>
            <a:srgbClr val="163027"/>
          </a:solidFill>
          <a:ln w="9525" cap="flat" cmpd="sng">
            <a:solidFill>
              <a:srgbClr val="10C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검증완료 </a:t>
            </a:r>
            <a:r>
              <a:rPr lang="en-US" altLang="ko-KR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08-28</a:t>
            </a:r>
            <a:endParaRPr b="1" dirty="0">
              <a:solidFill>
                <a:srgbClr val="10C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35;p17">
            <a:extLst>
              <a:ext uri="{FF2B5EF4-FFF2-40B4-BE49-F238E27FC236}">
                <a16:creationId xmlns:a16="http://schemas.microsoft.com/office/drawing/2014/main" id="{FF2F8838-7D28-F8A7-EABE-75027572E044}"/>
              </a:ext>
            </a:extLst>
          </p:cNvPr>
          <p:cNvSpPr/>
          <p:nvPr/>
        </p:nvSpPr>
        <p:spPr>
          <a:xfrm>
            <a:off x="6732188" y="5120167"/>
            <a:ext cx="1517257" cy="212211"/>
          </a:xfrm>
          <a:prstGeom prst="roundRect">
            <a:avLst>
              <a:gd name="adj" fmla="val 34186"/>
            </a:avLst>
          </a:prstGeom>
          <a:solidFill>
            <a:srgbClr val="163027"/>
          </a:solidFill>
          <a:ln w="9525" cap="flat" cmpd="sng">
            <a:solidFill>
              <a:srgbClr val="10C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검증완료 </a:t>
            </a:r>
            <a:r>
              <a:rPr lang="en-US" altLang="ko-KR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08-28</a:t>
            </a:r>
            <a:endParaRPr b="1" dirty="0">
              <a:solidFill>
                <a:srgbClr val="10C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5;p17">
            <a:extLst>
              <a:ext uri="{FF2B5EF4-FFF2-40B4-BE49-F238E27FC236}">
                <a16:creationId xmlns:a16="http://schemas.microsoft.com/office/drawing/2014/main" id="{25B0DF98-9177-712A-4DCE-8ADB70F107D4}"/>
              </a:ext>
            </a:extLst>
          </p:cNvPr>
          <p:cNvSpPr/>
          <p:nvPr/>
        </p:nvSpPr>
        <p:spPr>
          <a:xfrm>
            <a:off x="6732188" y="3910333"/>
            <a:ext cx="1517257" cy="212211"/>
          </a:xfrm>
          <a:prstGeom prst="roundRect">
            <a:avLst>
              <a:gd name="adj" fmla="val 34186"/>
            </a:avLst>
          </a:prstGeom>
          <a:solidFill>
            <a:srgbClr val="163027"/>
          </a:solidFill>
          <a:ln w="9525" cap="flat" cmpd="sng">
            <a:solidFill>
              <a:srgbClr val="10C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구현내용 </a:t>
            </a:r>
            <a:r>
              <a:rPr lang="en-US" altLang="ko-KR" b="1" dirty="0">
                <a:solidFill>
                  <a:srgbClr val="10C488"/>
                </a:solidFill>
                <a:latin typeface="Calibri"/>
                <a:ea typeface="Calibri"/>
                <a:cs typeface="Calibri"/>
                <a:sym typeface="Calibri"/>
              </a:rPr>
              <a:t>08-28</a:t>
            </a:r>
            <a:endParaRPr b="1" dirty="0">
              <a:solidFill>
                <a:srgbClr val="10C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64233"/>
            <a:ext cx="5276850" cy="435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4233"/>
            <a:ext cx="5276850" cy="435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650134"/>
            <a:ext cx="4495800" cy="86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5067300"/>
            <a:ext cx="4495800" cy="86290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1499443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Java 17, Spring Boot 3.3, Docker &amp; Observability Stack</a:t>
            </a:r>
            <a:endParaRPr dirty="0"/>
          </a:p>
        </p:txBody>
      </p:sp>
      <p:sp>
        <p:nvSpPr>
          <p:cNvPr id="147" name="Google Shape;147;p18"/>
          <p:cNvSpPr txBox="1"/>
          <p:nvPr/>
        </p:nvSpPr>
        <p:spPr>
          <a:xfrm>
            <a:off x="971550" y="2354758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L1 ~ L2: App &amp; Gateway</a:t>
            </a:r>
            <a:endParaRPr dirty="0"/>
          </a:p>
        </p:txBody>
      </p:sp>
      <p:sp>
        <p:nvSpPr>
          <p:cNvPr id="148" name="Google Shape;148;p18"/>
          <p:cNvSpPr txBox="1"/>
          <p:nvPr/>
        </p:nvSpPr>
        <p:spPr>
          <a:xfrm>
            <a:off x="6724650" y="2354758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L3 ~ L4: Data &amp; Operations</a:t>
            </a:r>
            <a:endParaRPr dirty="0"/>
          </a:p>
        </p:txBody>
      </p:sp>
      <p:sp>
        <p:nvSpPr>
          <p:cNvPr id="149" name="Google Shape;149;p18"/>
          <p:cNvSpPr txBox="1"/>
          <p:nvPr/>
        </p:nvSpPr>
        <p:spPr>
          <a:xfrm>
            <a:off x="1162050" y="2802433"/>
            <a:ext cx="430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Client &amp; Gateway : </a:t>
            </a:r>
            <a:r>
              <a:rPr lang="en-US" sz="135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Nginx 1.25 · Port 80 Gateway · SPA Client · /</a:t>
            </a:r>
            <a:r>
              <a:rPr lang="en-US" sz="135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sz="135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/* Reverse Proxy</a:t>
            </a:r>
            <a:endParaRPr dirty="0"/>
          </a:p>
        </p:txBody>
      </p:sp>
      <p:sp>
        <p:nvSpPr>
          <p:cNvPr id="150" name="Google Shape;150;p18"/>
          <p:cNvSpPr txBox="1"/>
          <p:nvPr/>
        </p:nvSpPr>
        <p:spPr>
          <a:xfrm>
            <a:off x="1162050" y="3493889"/>
            <a:ext cx="4305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Application: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Java 17 · Spring Boot 3.3.2 · Record DTO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1162050" y="3911054"/>
            <a:ext cx="430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Spring Security 6.x · JJWT 0.12.x · HMAC-SHA256.</a:t>
            </a:r>
            <a:endParaRPr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1171575" y="5116859"/>
            <a:ext cx="40957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Nginx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리버스</a:t>
            </a:r>
            <a:r>
              <a:rPr lang="en-US" altLang="ko-KR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프록시로 내부 </a:t>
            </a:r>
            <a:r>
              <a:rPr lang="en-US" altLang="ko-KR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WAS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포트를 외부에 완전 은닉</a:t>
            </a:r>
            <a:endParaRPr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6915150" y="2802433"/>
            <a:ext cx="4305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ko-KR" sz="1350" b="1" dirty="0">
                <a:solidFill>
                  <a:srgbClr val="C4C8CC"/>
                </a:solidFill>
              </a:rPr>
              <a:t>Data Layer : MySQL 8.x · Redis 7.x · Flyway V1~V5</a:t>
            </a:r>
            <a:r>
              <a:rPr lang="ko-KR" altLang="en-US" sz="1350" b="1" dirty="0">
                <a:solidFill>
                  <a:srgbClr val="C4C8CC"/>
                </a:solidFill>
              </a:rPr>
              <a:t>정규화 </a:t>
            </a:r>
            <a:r>
              <a:rPr lang="en-US" altLang="ko-KR" sz="1350" b="1" dirty="0">
                <a:solidFill>
                  <a:srgbClr val="C4C8CC"/>
                </a:solidFill>
              </a:rPr>
              <a:t>Schema </a:t>
            </a:r>
            <a:r>
              <a:rPr lang="ko-KR" altLang="en-US" sz="1350" b="1" dirty="0">
                <a:solidFill>
                  <a:srgbClr val="C4C8CC"/>
                </a:solidFill>
              </a:rPr>
              <a:t>및 인증 상태</a:t>
            </a:r>
            <a:r>
              <a:rPr lang="en-US" altLang="ko-KR" sz="1350" b="1" dirty="0">
                <a:solidFill>
                  <a:srgbClr val="C4C8CC"/>
                </a:solidFill>
              </a:rPr>
              <a:t>·Blacklist </a:t>
            </a:r>
            <a:r>
              <a:rPr lang="ko-KR" altLang="en-US" sz="1350" b="1" dirty="0">
                <a:solidFill>
                  <a:srgbClr val="C4C8CC"/>
                </a:solidFill>
              </a:rPr>
              <a:t>관리</a:t>
            </a:r>
            <a:endParaRPr lang="ko-KR" altLang="en-US" sz="1200"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6915150" y="3493889"/>
            <a:ext cx="4305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In-Memory Cache: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Fetch JoinN+1 </a:t>
            </a:r>
            <a:r>
              <a:rPr lang="ko-KR" altLang="en-US" sz="1350" dirty="0">
                <a:solidFill>
                  <a:srgbClr val="C4C8CC"/>
                </a:solidFill>
              </a:rPr>
              <a:t>정리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조회 최적화</a:t>
            </a:r>
            <a:endParaRPr lang="en-US"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6915150" y="3911054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Observability: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Prometheus 9090,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VictoriaMetrics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8428, Grafana 3000.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6915150" y="4602509"/>
            <a:ext cx="4305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Testing: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JUnit 5, k6 70 VU Load </a:t>
            </a:r>
            <a:r>
              <a:rPr lang="ko-KR" altLang="en-US" sz="1350" dirty="0">
                <a:solidFill>
                  <a:srgbClr val="C4C8CC"/>
                </a:solidFill>
              </a:rPr>
              <a:t>및 수치 </a:t>
            </a:r>
            <a:r>
              <a:rPr lang="ko-KR" altLang="en-US" sz="1350" dirty="0" err="1">
                <a:solidFill>
                  <a:srgbClr val="C4C8CC"/>
                </a:solidFill>
              </a:rPr>
              <a:t>표작성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6924675" y="5534025"/>
            <a:ext cx="4095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Docker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Compose를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활용한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환경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격리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971550" y="280243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71550" y="349388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71550" y="391105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71575" y="4802534"/>
            <a:ext cx="46880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724650" y="280243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24650" y="349388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724650" y="391105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6724650" y="460250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24675" y="5219700"/>
            <a:ext cx="46880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537418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기술 스택 </a:t>
            </a:r>
            <a:r>
              <a:rPr lang="en-US" altLang="ko-KR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endParaRPr dirty="0"/>
          </a:p>
        </p:txBody>
      </p:sp>
      <p:sp>
        <p:nvSpPr>
          <p:cNvPr id="168" name="Google Shape;168;p18"/>
          <p:cNvSpPr/>
          <p:nvPr/>
        </p:nvSpPr>
        <p:spPr>
          <a:xfrm>
            <a:off x="581025" y="1108918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A83D9D7B-F501-B53C-DED3-488CE32C9F9D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05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9544" y="1957387"/>
            <a:ext cx="2586037" cy="431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8231" y="1957387"/>
            <a:ext cx="2586037" cy="431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08819" y="1957387"/>
            <a:ext cx="2586037" cy="431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81024" y="149163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Clean Architecture, DTO Encapsulation &amp; Response Wrappers</a:t>
            </a:r>
            <a:endParaRPr dirty="0"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4819" y="2151945"/>
            <a:ext cx="781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3674819" y="2543472"/>
            <a:ext cx="1761596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DTO Encapsulation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3674819" y="2976562"/>
            <a:ext cx="19954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Java 17 Record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기반 불변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DTO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로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Entity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노출을 차단하고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API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응답 모델을 명확하게 분리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793506" y="2543472"/>
            <a:ext cx="184023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Service Boundary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793506" y="2976562"/>
            <a:ext cx="19954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는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처리에 집중하고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핵심 비즈니스 로직은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Service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계층으로 분리하여 책임과 테스트 범위를 명확화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04094" y="2151945"/>
            <a:ext cx="781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9304094" y="2543472"/>
            <a:ext cx="19954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Response &amp; Exception Contract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9304094" y="2976562"/>
            <a:ext cx="19954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공통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Response Wrapper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Global Exception Handler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로 성공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실패 응답 형식을 통일하여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계약의 일관성을 확보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 err="1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백엔드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구조</a:t>
            </a:r>
            <a:endParaRPr lang="en-US" dirty="0"/>
          </a:p>
        </p:txBody>
      </p:sp>
      <p:sp>
        <p:nvSpPr>
          <p:cNvPr id="193" name="Google Shape;193;p19"/>
          <p:cNvSpPr/>
          <p:nvPr/>
        </p:nvSpPr>
        <p:spPr>
          <a:xfrm>
            <a:off x="581025" y="1181100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468CE5C4-9AEC-4672-DB41-5D58A11F82A8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06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34240A-3C18-D5EC-A9D9-61170FBAA0B4}"/>
              </a:ext>
            </a:extLst>
          </p:cNvPr>
          <p:cNvSpPr/>
          <p:nvPr/>
        </p:nvSpPr>
        <p:spPr>
          <a:xfrm>
            <a:off x="3674818" y="4475747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Request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DTO ≠ </a:t>
            </a:r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Entity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≠ </a:t>
            </a:r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Response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DTO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9A6B1D0-226E-593D-EA83-9C357585E83B}"/>
              </a:ext>
            </a:extLst>
          </p:cNvPr>
          <p:cNvSpPr/>
          <p:nvPr/>
        </p:nvSpPr>
        <p:spPr>
          <a:xfrm>
            <a:off x="3674818" y="5319786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record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XxxRequest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(...) / </a:t>
            </a:r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record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XxxResponse</a:t>
            </a:r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(...)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6D81A14-7468-3486-6CE0-6FC0F59480FA}"/>
              </a:ext>
            </a:extLst>
          </p:cNvPr>
          <p:cNvSpPr/>
          <p:nvPr/>
        </p:nvSpPr>
        <p:spPr>
          <a:xfrm>
            <a:off x="793506" y="4475747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Controller → Service → Repository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501EA21-5829-9C3F-3D88-C6E9B3E567F1}"/>
              </a:ext>
            </a:extLst>
          </p:cNvPr>
          <p:cNvSpPr/>
          <p:nvPr/>
        </p:nvSpPr>
        <p:spPr>
          <a:xfrm>
            <a:off x="793506" y="5319786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Service 메서드 + 비즈니스 로직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DA4E1E7-3A85-2D41-6A89-3B054F50451B}"/>
              </a:ext>
            </a:extLst>
          </p:cNvPr>
          <p:cNvSpPr/>
          <p:nvPr/>
        </p:nvSpPr>
        <p:spPr>
          <a:xfrm>
            <a:off x="9304093" y="4475747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ApiResponse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, </a:t>
            </a:r>
          </a:p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Exception → </a:t>
            </a:r>
            <a:r>
              <a:rPr lang="en-US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GlobalExceptionHand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2CE39F4-33F7-9E21-5146-18D292B7F032}"/>
              </a:ext>
            </a:extLst>
          </p:cNvPr>
          <p:cNvSpPr/>
          <p:nvPr/>
        </p:nvSpPr>
        <p:spPr>
          <a:xfrm>
            <a:off x="9304093" y="5319786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ApiResponse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@RestControllerAdvice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Google Shape;174;p19" descr="image.png">
            <a:extLst>
              <a:ext uri="{FF2B5EF4-FFF2-40B4-BE49-F238E27FC236}">
                <a16:creationId xmlns:a16="http://schemas.microsoft.com/office/drawing/2014/main" id="{FBB8FB6A-3433-218D-40D2-68E7CEA2C65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60855" y="1959768"/>
            <a:ext cx="2586037" cy="43195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81;p19">
            <a:extLst>
              <a:ext uri="{FF2B5EF4-FFF2-40B4-BE49-F238E27FC236}">
                <a16:creationId xmlns:a16="http://schemas.microsoft.com/office/drawing/2014/main" id="{8F41B677-5971-CA1B-FED5-09BFC433E4BC}"/>
              </a:ext>
            </a:extLst>
          </p:cNvPr>
          <p:cNvSpPr txBox="1"/>
          <p:nvPr/>
        </p:nvSpPr>
        <p:spPr>
          <a:xfrm>
            <a:off x="6556129" y="2545853"/>
            <a:ext cx="192221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Persistence Isolation</a:t>
            </a:r>
            <a:endParaRPr dirty="0"/>
          </a:p>
        </p:txBody>
      </p:sp>
      <p:sp>
        <p:nvSpPr>
          <p:cNvPr id="25" name="Google Shape;182;p19">
            <a:extLst>
              <a:ext uri="{FF2B5EF4-FFF2-40B4-BE49-F238E27FC236}">
                <a16:creationId xmlns:a16="http://schemas.microsoft.com/office/drawing/2014/main" id="{BCAED3A1-C4F3-D1F5-C2CA-3BB1A6BEE3C4}"/>
              </a:ext>
            </a:extLst>
          </p:cNvPr>
          <p:cNvSpPr txBox="1"/>
          <p:nvPr/>
        </p:nvSpPr>
        <p:spPr>
          <a:xfrm>
            <a:off x="6556130" y="2978943"/>
            <a:ext cx="19954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Repository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계층에서 데이터 접근을 캡슐화하고 </a:t>
            </a:r>
            <a:r>
              <a:rPr lang="en-US" altLang="ko-KR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EntityGraph·Fetch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Join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을 적용해 연관관계 조회와 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N+1 </a:t>
            </a:r>
            <a:r>
              <a:rPr lang="ko-KR" alt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문제를 제어</a:t>
            </a:r>
            <a:r>
              <a:rPr lang="en-US" altLang="ko-KR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1588EAA-1A05-B95C-E161-04193EBA1FDE}"/>
              </a:ext>
            </a:extLst>
          </p:cNvPr>
          <p:cNvSpPr/>
          <p:nvPr/>
        </p:nvSpPr>
        <p:spPr>
          <a:xfrm>
            <a:off x="6556130" y="4478128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Service → Repository → JPA → MySQL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4AE3E16-25D2-D69B-FDC6-E0DB735712EA}"/>
              </a:ext>
            </a:extLst>
          </p:cNvPr>
          <p:cNvSpPr/>
          <p:nvPr/>
        </p:nvSpPr>
        <p:spPr>
          <a:xfrm>
            <a:off x="6556130" y="5322167"/>
            <a:ext cx="1995487" cy="6525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Repository Query / @EntityGraph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86" name="Google Shape;18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56129" y="2157596"/>
            <a:ext cx="7810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80;p19" descr="image.png">
            <a:extLst>
              <a:ext uri="{FF2B5EF4-FFF2-40B4-BE49-F238E27FC236}">
                <a16:creationId xmlns:a16="http://schemas.microsoft.com/office/drawing/2014/main" id="{DF8AA8BF-F96C-D3C8-7744-3B57377DDA6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3506" y="2154576"/>
            <a:ext cx="7810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1667"/>
            <a:ext cx="3443882" cy="3885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3507" y="2391667"/>
            <a:ext cx="3618459" cy="3885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7241" y="2391667"/>
            <a:ext cx="3443882" cy="388530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81025" y="1926877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SPA Integration, Error Boundaries &amp; Auth Interceptors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76300" y="3277492"/>
            <a:ext cx="27963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01. Authentication State</a:t>
            </a:r>
            <a:endParaRPr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876300" y="3639442"/>
            <a:ext cx="285333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Zustand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Persist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bootstrap Auth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를 기반으로 인증 상태를 복구하고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Token Refresh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흐름을 안정화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876300" y="5228206"/>
            <a:ext cx="28533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XSS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방어를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브라우저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인메모리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보관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여부에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따른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Route Guard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라우팅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4548782" y="3277492"/>
            <a:ext cx="211198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02. Server State</a:t>
            </a:r>
            <a:endParaRPr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4548783" y="3639442"/>
            <a:ext cx="3037582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React Query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의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Cache, Mutation, Invalidation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을 활용해 서버 데이터와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UI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상태를 효율적으로 동기화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4548782" y="5225934"/>
            <a:ext cx="309458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Header Bearer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주입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파이프라인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동시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요청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단일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재발급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큐잉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10" name="Google Shape;210;p20"/>
          <p:cNvSpPr txBox="1"/>
          <p:nvPr/>
        </p:nvSpPr>
        <p:spPr>
          <a:xfrm>
            <a:off x="8462516" y="3277492"/>
            <a:ext cx="20271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03. API Integration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8462515" y="3639442"/>
            <a:ext cx="3003579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HTTP Wrapper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와 공통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Response/Error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처리를 적용해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호출 방식을 표준화하고 화면별 통신 중복을 최소화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12" name="Google Shape;212;p20"/>
          <p:cNvSpPr txBox="1"/>
          <p:nvPr/>
        </p:nvSpPr>
        <p:spPr>
          <a:xfrm>
            <a:off x="8462516" y="5225934"/>
            <a:ext cx="285333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401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연속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재시도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무한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루프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차단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(TS-001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 및 Redis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단절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25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대응</a:t>
            </a:r>
            <a:r>
              <a:rPr lang="en-US" sz="1125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13" name="Google Shape;21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15517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8782" y="2715517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2516" y="2715517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사용자단 인터페이스</a:t>
            </a:r>
            <a:endParaRPr dirty="0"/>
          </a:p>
        </p:txBody>
      </p:sp>
      <p:sp>
        <p:nvSpPr>
          <p:cNvPr id="217" name="Google Shape;217;p20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577527BB-CE64-E48F-9F6C-EE7B42BB866C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07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993034"/>
            <a:ext cx="5276850" cy="135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76672"/>
            <a:ext cx="52768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81025" y="1476672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Nginx Gateway &amp; 7-Container Topology Network Isolation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71525" y="1941462"/>
            <a:ext cx="5219698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🌐 Gateway: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Nginx Port 80 (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유일한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외부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공개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). /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/*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프록시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라우팅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28" name="Google Shape;228;p21"/>
          <p:cNvSpPr txBox="1"/>
          <p:nvPr/>
        </p:nvSpPr>
        <p:spPr>
          <a:xfrm>
            <a:off x="771525" y="2632918"/>
            <a:ext cx="521969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🛡️ 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Application </a:t>
            </a: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스프링 부트 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3.3.2 (backend:8080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내부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전용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REST API·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인증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비즈니스 로직 처리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771525" y="3324373"/>
            <a:ext cx="50863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💾 RDBMS 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MySQL 8.0 (db:3306). Flyway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스키마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영속성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30" name="Google Shape;230;p21"/>
          <p:cNvSpPr txBox="1"/>
          <p:nvPr/>
        </p:nvSpPr>
        <p:spPr>
          <a:xfrm>
            <a:off x="771525" y="3741539"/>
            <a:ext cx="50863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⚡ State / Cache 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Redis 7.0 (redis:6379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내부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전용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세션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캐시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4158704"/>
            <a:ext cx="50863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📊 Monitoring: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Application Metrics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수집 및 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Grafana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시각화 연계</a:t>
            </a:r>
            <a:endParaRPr dirty="0"/>
          </a:p>
        </p:txBody>
      </p:sp>
      <p:sp>
        <p:nvSpPr>
          <p:cNvPr id="232" name="Google Shape;232;p21"/>
          <p:cNvSpPr txBox="1"/>
          <p:nvPr/>
        </p:nvSpPr>
        <p:spPr>
          <a:xfrm>
            <a:off x="781050" y="5459759"/>
            <a:ext cx="48768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localhost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의존을 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Docker Service Name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기반 통신으로 전환하여 </a:t>
            </a: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TS-003 Connection Refused </a:t>
            </a:r>
            <a:r>
              <a:rPr lang="ko-KR" alt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endParaRPr dirty="0"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486197"/>
            <a:ext cx="470103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81025" y="194146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581025" y="2632918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81025" y="3324373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81025" y="3741539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81025" y="415870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5145434"/>
            <a:ext cx="1137493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581025" y="514647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F3F4F6"/>
                </a:solidFill>
              </a:rPr>
              <a:t>인프라구조 </a:t>
            </a:r>
            <a:r>
              <a:rPr lang="en-US" altLang="ko-KR" sz="3000" dirty="0">
                <a:solidFill>
                  <a:srgbClr val="F3F4F6"/>
                </a:solidFill>
              </a:rPr>
              <a:t>/ </a:t>
            </a:r>
            <a:r>
              <a:rPr lang="ko-KR" altLang="en-US" sz="3000" dirty="0" err="1">
                <a:solidFill>
                  <a:srgbClr val="F3F4F6"/>
                </a:solidFill>
              </a:rPr>
              <a:t>도커</a:t>
            </a:r>
            <a:r>
              <a:rPr lang="ko-KR" altLang="en-US" sz="3000" dirty="0">
                <a:solidFill>
                  <a:srgbClr val="F3F4F6"/>
                </a:solidFill>
              </a:rPr>
              <a:t> 기술</a:t>
            </a:r>
            <a:endParaRPr lang="en-US" dirty="0"/>
          </a:p>
        </p:txBody>
      </p:sp>
      <p:sp>
        <p:nvSpPr>
          <p:cNvPr id="241" name="Google Shape;241;p21"/>
          <p:cNvSpPr/>
          <p:nvPr/>
        </p:nvSpPr>
        <p:spPr>
          <a:xfrm>
            <a:off x="581025" y="1086147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6DAE4B95-1B74-67F6-234C-3CEF277557B6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08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F319EDE-670A-FF83-F8D0-1AC3118DC826}"/>
              </a:ext>
            </a:extLst>
          </p:cNvPr>
          <p:cNvSpPr/>
          <p:nvPr/>
        </p:nvSpPr>
        <p:spPr>
          <a:xfrm>
            <a:off x="6343650" y="1476672"/>
            <a:ext cx="5276850" cy="39830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 Internet</a:t>
            </a:r>
          </a:p>
          <a:p>
            <a:pPr algn="ctr"/>
            <a:r>
              <a:rPr lang="en-US" altLang="ko-KR" sz="900" dirty="0"/>
              <a:t>                      │</a:t>
            </a:r>
          </a:p>
          <a:p>
            <a:pPr algn="ctr"/>
            <a:r>
              <a:rPr lang="en-US" altLang="ko-KR" sz="900" dirty="0"/>
              <a:t>                    :80</a:t>
            </a:r>
          </a:p>
          <a:p>
            <a:pPr algn="ctr"/>
            <a:r>
              <a:rPr lang="en-US" altLang="ko-KR" sz="900" dirty="0"/>
              <a:t>                      ↓</a:t>
            </a:r>
          </a:p>
          <a:p>
            <a:pPr algn="ctr"/>
            <a:r>
              <a:rPr lang="en-US" altLang="ko-KR" sz="900" dirty="0"/>
              <a:t>               ┌─────────────┐</a:t>
            </a:r>
          </a:p>
          <a:p>
            <a:pPr algn="ctr"/>
            <a:r>
              <a:rPr lang="en-US" altLang="ko-KR" sz="900" dirty="0"/>
              <a:t>               │    Nginx    │</a:t>
            </a:r>
          </a:p>
          <a:p>
            <a:pPr algn="ctr"/>
            <a:r>
              <a:rPr lang="en-US" altLang="ko-KR" sz="900" dirty="0"/>
              <a:t>               └──────┬──────┘</a:t>
            </a:r>
          </a:p>
          <a:p>
            <a:pPr algn="ctr"/>
            <a:r>
              <a:rPr lang="en-US" altLang="ko-KR" sz="900" dirty="0"/>
              <a:t>                      │</a:t>
            </a:r>
          </a:p>
          <a:p>
            <a:pPr algn="ctr"/>
            <a:r>
              <a:rPr lang="en-US" altLang="ko-KR" sz="900" dirty="0"/>
              <a:t>               /</a:t>
            </a:r>
            <a:r>
              <a:rPr lang="en-US" altLang="ko-KR" sz="900" dirty="0" err="1"/>
              <a:t>api</a:t>
            </a:r>
            <a:r>
              <a:rPr lang="en-US" altLang="ko-KR" sz="900" dirty="0"/>
              <a:t>/*</a:t>
            </a:r>
          </a:p>
          <a:p>
            <a:pPr algn="ctr"/>
            <a:r>
              <a:rPr lang="en-US" altLang="ko-KR" sz="900" dirty="0"/>
              <a:t>                      ↓</a:t>
            </a:r>
          </a:p>
          <a:p>
            <a:pPr algn="ctr"/>
            <a:r>
              <a:rPr lang="en-US" altLang="ko-KR" sz="900" dirty="0"/>
              <a:t>               ┌─────────────┐</a:t>
            </a:r>
          </a:p>
          <a:p>
            <a:pPr algn="ctr"/>
            <a:r>
              <a:rPr lang="en-US" altLang="ko-KR" sz="900" dirty="0"/>
              <a:t>               │   Backend   │</a:t>
            </a:r>
          </a:p>
          <a:p>
            <a:pPr algn="ctr"/>
            <a:r>
              <a:rPr lang="en-US" altLang="ko-KR" sz="900" dirty="0"/>
              <a:t>               └───┬─────┬───┘</a:t>
            </a:r>
          </a:p>
          <a:p>
            <a:pPr algn="ctr"/>
            <a:r>
              <a:rPr lang="en-US" altLang="ko-KR" sz="900" dirty="0"/>
              <a:t>                   │     │</a:t>
            </a:r>
          </a:p>
          <a:p>
            <a:pPr algn="ctr"/>
            <a:r>
              <a:rPr lang="en-US" altLang="ko-KR" sz="900" dirty="0"/>
              <a:t>          ┌────────┘     └────────┐</a:t>
            </a:r>
          </a:p>
          <a:p>
            <a:pPr algn="ctr"/>
            <a:r>
              <a:rPr lang="en-US" altLang="ko-KR" sz="900" dirty="0"/>
              <a:t>          ↓                       ↓</a:t>
            </a:r>
          </a:p>
          <a:p>
            <a:pPr algn="ctr"/>
            <a:r>
              <a:rPr lang="en-US" altLang="ko-KR" sz="900" dirty="0"/>
              <a:t>     ┌─────────┐             ┌─────────┐</a:t>
            </a:r>
          </a:p>
          <a:p>
            <a:pPr algn="ctr"/>
            <a:r>
              <a:rPr lang="en-US" altLang="ko-KR" sz="900" dirty="0"/>
              <a:t>     │  MySQL  │             │  Redis  │</a:t>
            </a:r>
          </a:p>
          <a:p>
            <a:pPr algn="ctr"/>
            <a:r>
              <a:rPr lang="en-US" altLang="ko-KR" sz="900" dirty="0"/>
              <a:t>     └─────────┘             └─────────┘</a:t>
            </a:r>
          </a:p>
          <a:p>
            <a:pPr algn="ctr"/>
            <a:r>
              <a:rPr lang="en-US" altLang="ko-KR" sz="900" dirty="0"/>
              <a:t>                                  │</a:t>
            </a:r>
          </a:p>
          <a:p>
            <a:pPr algn="ctr"/>
            <a:r>
              <a:rPr lang="en-US" altLang="ko-KR" sz="900" dirty="0"/>
              <a:t>                            Token / Session</a:t>
            </a:r>
          </a:p>
          <a:p>
            <a:pPr algn="ctr"/>
            <a:r>
              <a:rPr lang="en-US" altLang="ko-KR" sz="900" dirty="0"/>
              <a:t>                            </a:t>
            </a:r>
          </a:p>
          <a:p>
            <a:pPr algn="ctr"/>
            <a:r>
              <a:rPr lang="en-US" altLang="ko-KR" sz="900" dirty="0"/>
              <a:t>               Backend</a:t>
            </a:r>
          </a:p>
          <a:p>
            <a:pPr algn="ctr"/>
            <a:r>
              <a:rPr lang="en-US" altLang="ko-KR" sz="900" dirty="0"/>
              <a:t>                  │</a:t>
            </a:r>
          </a:p>
          <a:p>
            <a:pPr algn="ctr"/>
            <a:r>
              <a:rPr lang="en-US" altLang="ko-KR" sz="900" dirty="0"/>
              <a:t>                  ↓</a:t>
            </a:r>
          </a:p>
          <a:p>
            <a:pPr algn="ctr"/>
            <a:r>
              <a:rPr lang="en-US" altLang="ko-KR" sz="900" dirty="0"/>
              <a:t>             Prometheus</a:t>
            </a:r>
          </a:p>
          <a:p>
            <a:pPr algn="ctr"/>
            <a:r>
              <a:rPr lang="en-US" altLang="ko-KR" sz="900" dirty="0"/>
              <a:t>                  │</a:t>
            </a:r>
          </a:p>
          <a:p>
            <a:pPr algn="ctr"/>
            <a:r>
              <a:rPr lang="en-US" altLang="ko-KR" sz="900" dirty="0"/>
              <a:t>                  ↓</a:t>
            </a:r>
          </a:p>
          <a:p>
            <a:pPr algn="ctr"/>
            <a:r>
              <a:rPr lang="en-US" altLang="ko-KR" sz="900" dirty="0"/>
              <a:t>               Grafana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84176"/>
            <a:ext cx="5276850" cy="4316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84176"/>
            <a:ext cx="5276850" cy="4316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190107"/>
            <a:ext cx="44958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190107"/>
            <a:ext cx="449580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1519386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RDBMS(영속성)와 In-Memory(세션/속도) 물리적 분리 구조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971550" y="2374701"/>
            <a:ext cx="472059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MySQL 8.0 RDBMS Store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971550" y="2774751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3070026"/>
            <a:ext cx="106322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971550" y="3451026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영속 도메인 엔티티 및 정규화된 M:N RBAC 관계형 데이터 보관.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6724650" y="2374701"/>
            <a:ext cx="472059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Redis 7.0 In-Memory Store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6724650" y="2774751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3070026"/>
            <a:ext cx="1063228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6724650" y="3451026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고속 임시 세션 데이터 및 탈취 방어용 1회용 JTI &amp; Blacklist.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1162050" y="5056882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ddl-auto=validate 형상 왜곡 원천 차단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162050" y="5474047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Flyway V1~V5 버전 마이그레이션 이력 통제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915150" y="5075932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로그아웃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무상태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토큰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무효화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달성</a:t>
            </a:r>
            <a:endParaRPr dirty="0"/>
          </a:p>
        </p:txBody>
      </p:sp>
      <p:sp>
        <p:nvSpPr>
          <p:cNvPr id="264" name="Google Shape;264;p22"/>
          <p:cNvSpPr txBox="1"/>
          <p:nvPr/>
        </p:nvSpPr>
        <p:spPr>
          <a:xfrm>
            <a:off x="6915150" y="5493097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1회용 JTI 검증으로 Replay 공격 원천 방어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971550" y="505688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971550" y="547404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724650" y="50759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724650" y="54930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81025" y="557361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데이터 스키마 </a:t>
            </a:r>
            <a:r>
              <a:rPr lang="en-US" altLang="ko-KR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/ Flyway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관리 체계</a:t>
            </a:r>
            <a:endParaRPr dirty="0"/>
          </a:p>
        </p:txBody>
      </p:sp>
      <p:sp>
        <p:nvSpPr>
          <p:cNvPr id="270" name="Google Shape;270;p22"/>
          <p:cNvSpPr/>
          <p:nvPr/>
        </p:nvSpPr>
        <p:spPr>
          <a:xfrm>
            <a:off x="581025" y="1128861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24C8FDEF-36C7-B27D-2BF1-B9AE327435F4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09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581025" y="1858416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Stateless JWT, RTR JTI Rotation &amp; Redis Blacklist 하이브리드 파이프라인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66775" y="2418457"/>
            <a:ext cx="107442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Bearer Token Filter : 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HTTP Header Authorization: </a:t>
            </a:r>
            <a:r>
              <a:rPr lang="ko-KR" altLang="en-US" sz="1350" dirty="0">
                <a:solidFill>
                  <a:srgbClr val="C4C8CC"/>
                </a:solidFill>
              </a:rPr>
              <a:t>접근 토큰은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요청마다 서명과 만료시간을 검증하고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HMAC-SHA256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기반 서명 검증으로 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Token 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위</a:t>
            </a:r>
            <a:r>
              <a:rPr lang="en-US" altLang="ko-KR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변조를 차단합니다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79" name="Google Shape;279;p23"/>
          <p:cNvSpPr txBox="1"/>
          <p:nvPr/>
        </p:nvSpPr>
        <p:spPr>
          <a:xfrm>
            <a:off x="866775" y="3509962"/>
            <a:ext cx="10744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즉시 차단 </a:t>
            </a:r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활성 </a:t>
            </a:r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정지 </a:t>
            </a:r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Blacklist :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디코딩된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토큰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기반으로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Redis bl: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키를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조회합니다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로그아웃된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토큰일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350" dirty="0">
                <a:solidFill>
                  <a:srgbClr val="C4C8CC"/>
                </a:solidFill>
              </a:rPr>
              <a:t>때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필터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단에서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401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에러로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요청을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차단합니다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80" name="Google Shape;280;p23"/>
          <p:cNvSpPr txBox="1"/>
          <p:nvPr/>
        </p:nvSpPr>
        <p:spPr>
          <a:xfrm>
            <a:off x="866774" y="4327177"/>
            <a:ext cx="1085198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권한 응집 롤의 </a:t>
            </a:r>
            <a:r>
              <a:rPr 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RBAC Authorization 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유효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토큰일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350" dirty="0">
                <a:solidFill>
                  <a:srgbClr val="C4C8CC"/>
                </a:solidFill>
              </a:rPr>
              <a:t>때</a:t>
            </a:r>
            <a:r>
              <a:rPr lang="en-US" altLang="ko-KR" sz="1350" dirty="0">
                <a:solidFill>
                  <a:srgbClr val="C4C8CC"/>
                </a:solidFill>
              </a:rPr>
              <a:t>,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UserAuthorityService를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거쳐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엔드포인트에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매핑된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Role/Permission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인가를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수행합니다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281" name="Google Shape;281;p23"/>
          <p:cNvSpPr txBox="1"/>
          <p:nvPr/>
        </p:nvSpPr>
        <p:spPr>
          <a:xfrm>
            <a:off x="866775" y="5144392"/>
            <a:ext cx="10744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Redis </a:t>
            </a:r>
            <a:r>
              <a:rPr lang="ko-KR" alt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RTR Token Rotation : 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토큰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갱신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시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HttpOnly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Cookie의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Refresh Token 내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JTI를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검증하고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폐기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(1회용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소진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)한 뒤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신규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토큰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세트를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동시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발급합니다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82" name="Google Shape;28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3219"/>
            <a:ext cx="95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4725"/>
            <a:ext cx="95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31940"/>
            <a:ext cx="952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149155"/>
            <a:ext cx="952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보안</a:t>
            </a:r>
            <a:r>
              <a:rPr 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/ JWT &amp; RBAC</a:t>
            </a:r>
            <a:endParaRPr dirty="0"/>
          </a:p>
        </p:txBody>
      </p:sp>
      <p:sp>
        <p:nvSpPr>
          <p:cNvPr id="287" name="Google Shape;287;p23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132C158A-5D92-4C90-5433-8C8D5D606FED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10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441F6-3715-B817-1501-5DC9F9FF2C84}"/>
              </a:ext>
            </a:extLst>
          </p:cNvPr>
          <p:cNvSpPr txBox="1"/>
          <p:nvPr/>
        </p:nvSpPr>
        <p:spPr>
          <a:xfrm>
            <a:off x="770523" y="3235672"/>
            <a:ext cx="60939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(401 UNAUTHORIZED)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78CF0-4EF9-121E-B0B9-E18C7D13534A}"/>
              </a:ext>
            </a:extLst>
          </p:cNvPr>
          <p:cNvSpPr txBox="1"/>
          <p:nvPr/>
        </p:nvSpPr>
        <p:spPr>
          <a:xfrm>
            <a:off x="770523" y="4141395"/>
            <a:ext cx="60939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(403 FORBIDDEN)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348EB-4A72-5EEA-5696-16175C4FA8A8}"/>
              </a:ext>
            </a:extLst>
          </p:cNvPr>
          <p:cNvSpPr txBox="1"/>
          <p:nvPr/>
        </p:nvSpPr>
        <p:spPr>
          <a:xfrm>
            <a:off x="770523" y="4874631"/>
            <a:ext cx="60939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(REPLAY DEFENSE)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8C940-5C7D-DB35-5825-557BAC811786}"/>
              </a:ext>
            </a:extLst>
          </p:cNvPr>
          <p:cNvSpPr txBox="1"/>
          <p:nvPr/>
        </p:nvSpPr>
        <p:spPr>
          <a:xfrm>
            <a:off x="770523" y="2258750"/>
            <a:ext cx="609399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5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(JJWT 0.12.x)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4928"/>
            <a:ext cx="5276850" cy="381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880135"/>
            <a:ext cx="11157978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581025" y="1316344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70 VU 1-Min Sustained Load Benchmark (Threshold Check PASS)</a:t>
            </a:r>
            <a:endParaRPr dirty="0"/>
          </a:p>
        </p:txBody>
      </p:sp>
      <p:sp>
        <p:nvSpPr>
          <p:cNvPr id="304" name="Google Shape;304;p24"/>
          <p:cNvSpPr txBox="1"/>
          <p:nvPr/>
        </p:nvSpPr>
        <p:spPr>
          <a:xfrm>
            <a:off x="781050" y="6032535"/>
            <a:ext cx="10312066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시나리오:</a:t>
            </a:r>
            <a:r>
              <a:rPr lang="en-US" sz="120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Login ➔ /users/me ➔ /menus ➔ /refresh 순환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K6 / </a:t>
            </a:r>
            <a:r>
              <a:rPr lang="ko-KR" altLang="en-US" sz="3000" dirty="0">
                <a:solidFill>
                  <a:srgbClr val="F3F4F6"/>
                </a:solidFill>
              </a:rPr>
              <a:t>성능 검출</a:t>
            </a:r>
            <a:endParaRPr dirty="0"/>
          </a:p>
        </p:txBody>
      </p:sp>
      <p:sp>
        <p:nvSpPr>
          <p:cNvPr id="309" name="Google Shape;309;p24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14BE0177-F9EC-2548-9ADE-B873225D15E6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11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00;p24">
            <a:extLst>
              <a:ext uri="{FF2B5EF4-FFF2-40B4-BE49-F238E27FC236}">
                <a16:creationId xmlns:a16="http://schemas.microsoft.com/office/drawing/2014/main" id="{3726992D-E6D4-3051-A193-C867FAB395D6}"/>
              </a:ext>
            </a:extLst>
          </p:cNvPr>
          <p:cNvSpPr txBox="1"/>
          <p:nvPr/>
        </p:nvSpPr>
        <p:spPr>
          <a:xfrm>
            <a:off x="787079" y="1913741"/>
            <a:ext cx="480125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환경 구성</a:t>
            </a:r>
            <a:endParaRPr dirty="0"/>
          </a:p>
        </p:txBody>
      </p:sp>
      <p:sp>
        <p:nvSpPr>
          <p:cNvPr id="7" name="Google Shape;301;p24">
            <a:extLst>
              <a:ext uri="{FF2B5EF4-FFF2-40B4-BE49-F238E27FC236}">
                <a16:creationId xmlns:a16="http://schemas.microsoft.com/office/drawing/2014/main" id="{7C89D74A-31B0-4653-70C7-DCFE2684219A}"/>
              </a:ext>
            </a:extLst>
          </p:cNvPr>
          <p:cNvSpPr txBox="1"/>
          <p:nvPr/>
        </p:nvSpPr>
        <p:spPr>
          <a:xfrm>
            <a:off x="977579" y="2391200"/>
            <a:ext cx="440754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OS :</a:t>
            </a:r>
            <a:r>
              <a:rPr lang="en-US" altLang="ko-KR" dirty="0">
                <a:solidFill>
                  <a:srgbClr val="10B981"/>
                </a:solidFill>
              </a:rPr>
              <a:t>  (</a:t>
            </a:r>
            <a:r>
              <a:rPr lang="ko-KR" altLang="en-US" dirty="0">
                <a:solidFill>
                  <a:srgbClr val="10B981"/>
                </a:solidFill>
              </a:rPr>
              <a:t>윈도우</a:t>
            </a:r>
            <a:r>
              <a:rPr lang="en-US" altLang="ko-KR" dirty="0">
                <a:solidFill>
                  <a:srgbClr val="10B981"/>
                </a:solidFill>
              </a:rPr>
              <a:t>, </a:t>
            </a:r>
            <a:r>
              <a:rPr lang="ko-KR" altLang="en-US" dirty="0">
                <a:solidFill>
                  <a:srgbClr val="10B981"/>
                </a:solidFill>
              </a:rPr>
              <a:t>리눅스 등</a:t>
            </a:r>
            <a:r>
              <a:rPr lang="en-US" altLang="ko-KR" dirty="0">
                <a:solidFill>
                  <a:srgbClr val="10B981"/>
                </a:solidFill>
              </a:rPr>
              <a:t>)</a:t>
            </a:r>
            <a:endParaRPr lang="en-US" dirty="0"/>
          </a:p>
        </p:txBody>
      </p:sp>
      <p:sp>
        <p:nvSpPr>
          <p:cNvPr id="9" name="Google Shape;302;p24">
            <a:extLst>
              <a:ext uri="{FF2B5EF4-FFF2-40B4-BE49-F238E27FC236}">
                <a16:creationId xmlns:a16="http://schemas.microsoft.com/office/drawing/2014/main" id="{FF5CC4B9-1CD9-4593-179D-183C304B5C1F}"/>
              </a:ext>
            </a:extLst>
          </p:cNvPr>
          <p:cNvSpPr txBox="1"/>
          <p:nvPr/>
        </p:nvSpPr>
        <p:spPr>
          <a:xfrm>
            <a:off x="977579" y="2760740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CP</a:t>
            </a:r>
            <a:r>
              <a:rPr lang="en-US" sz="1350" b="1" dirty="0">
                <a:solidFill>
                  <a:srgbClr val="C4C8CC"/>
                </a:solidFill>
              </a:rPr>
              <a:t>U </a:t>
            </a:r>
            <a:r>
              <a:rPr lang="ko-KR" altLang="en-US" sz="1350" b="1" dirty="0">
                <a:solidFill>
                  <a:srgbClr val="C4C8CC"/>
                </a:solidFill>
              </a:rPr>
              <a:t>와 </a:t>
            </a:r>
            <a:r>
              <a:rPr lang="en-US" altLang="ko-KR" sz="1350" b="1" dirty="0">
                <a:solidFill>
                  <a:srgbClr val="C4C8CC"/>
                </a:solidFill>
              </a:rPr>
              <a:t>THRED :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(12)  (24)</a:t>
            </a:r>
            <a:endParaRPr dirty="0"/>
          </a:p>
        </p:txBody>
      </p:sp>
      <p:sp>
        <p:nvSpPr>
          <p:cNvPr id="11" name="Google Shape;303;p24">
            <a:extLst>
              <a:ext uri="{FF2B5EF4-FFF2-40B4-BE49-F238E27FC236}">
                <a16:creationId xmlns:a16="http://schemas.microsoft.com/office/drawing/2014/main" id="{2468B81D-380A-4DE9-354D-7FBF0E51F1CE}"/>
              </a:ext>
            </a:extLst>
          </p:cNvPr>
          <p:cNvSpPr txBox="1"/>
          <p:nvPr/>
        </p:nvSpPr>
        <p:spPr>
          <a:xfrm>
            <a:off x="977579" y="3130280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Memory </a:t>
            </a:r>
            <a:r>
              <a:rPr lang="en-US" sz="1350" dirty="0">
                <a:solidFill>
                  <a:srgbClr val="C4C8CC"/>
                </a:solidFill>
              </a:rPr>
              <a:t>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350" dirty="0">
                <a:solidFill>
                  <a:srgbClr val="10B981"/>
                </a:solidFill>
              </a:rPr>
              <a:t>16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GB)x2</a:t>
            </a:r>
            <a:endParaRPr dirty="0"/>
          </a:p>
        </p:txBody>
      </p:sp>
      <p:sp>
        <p:nvSpPr>
          <p:cNvPr id="13" name="Google Shape;305;p24">
            <a:extLst>
              <a:ext uri="{FF2B5EF4-FFF2-40B4-BE49-F238E27FC236}">
                <a16:creationId xmlns:a16="http://schemas.microsoft.com/office/drawing/2014/main" id="{C20790AF-6A20-F0C5-71C5-3A2BD9FC4D0C}"/>
              </a:ext>
            </a:extLst>
          </p:cNvPr>
          <p:cNvSpPr txBox="1"/>
          <p:nvPr/>
        </p:nvSpPr>
        <p:spPr>
          <a:xfrm>
            <a:off x="787079" y="2391200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" name="Google Shape;306;p24">
            <a:extLst>
              <a:ext uri="{FF2B5EF4-FFF2-40B4-BE49-F238E27FC236}">
                <a16:creationId xmlns:a16="http://schemas.microsoft.com/office/drawing/2014/main" id="{F87762B9-1F69-88C5-B4EA-5B82C80DAF48}"/>
              </a:ext>
            </a:extLst>
          </p:cNvPr>
          <p:cNvSpPr txBox="1"/>
          <p:nvPr/>
        </p:nvSpPr>
        <p:spPr>
          <a:xfrm>
            <a:off x="787079" y="2760740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7" name="Google Shape;307;p24">
            <a:extLst>
              <a:ext uri="{FF2B5EF4-FFF2-40B4-BE49-F238E27FC236}">
                <a16:creationId xmlns:a16="http://schemas.microsoft.com/office/drawing/2014/main" id="{C331D4CE-C1A8-E7A2-00C1-C166659A0221}"/>
              </a:ext>
            </a:extLst>
          </p:cNvPr>
          <p:cNvSpPr txBox="1"/>
          <p:nvPr/>
        </p:nvSpPr>
        <p:spPr>
          <a:xfrm>
            <a:off x="787079" y="3130280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" name="Google Shape;303;p24">
            <a:extLst>
              <a:ext uri="{FF2B5EF4-FFF2-40B4-BE49-F238E27FC236}">
                <a16:creationId xmlns:a16="http://schemas.microsoft.com/office/drawing/2014/main" id="{9C9F6E08-D3E1-7267-A964-E5CEECA78CD2}"/>
              </a:ext>
            </a:extLst>
          </p:cNvPr>
          <p:cNvSpPr txBox="1"/>
          <p:nvPr/>
        </p:nvSpPr>
        <p:spPr>
          <a:xfrm>
            <a:off x="977579" y="3510173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JVM: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Java 17</a:t>
            </a:r>
            <a:endParaRPr dirty="0"/>
          </a:p>
        </p:txBody>
      </p:sp>
      <p:sp>
        <p:nvSpPr>
          <p:cNvPr id="21" name="Google Shape;307;p24">
            <a:extLst>
              <a:ext uri="{FF2B5EF4-FFF2-40B4-BE49-F238E27FC236}">
                <a16:creationId xmlns:a16="http://schemas.microsoft.com/office/drawing/2014/main" id="{0D0C3546-78AA-469A-B1FF-377A3DF2D870}"/>
              </a:ext>
            </a:extLst>
          </p:cNvPr>
          <p:cNvSpPr txBox="1"/>
          <p:nvPr/>
        </p:nvSpPr>
        <p:spPr>
          <a:xfrm>
            <a:off x="787079" y="3510173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3" name="Google Shape;302;p24">
            <a:extLst>
              <a:ext uri="{FF2B5EF4-FFF2-40B4-BE49-F238E27FC236}">
                <a16:creationId xmlns:a16="http://schemas.microsoft.com/office/drawing/2014/main" id="{8D44302D-77B6-081B-1C73-DB12EF931683}"/>
              </a:ext>
            </a:extLst>
          </p:cNvPr>
          <p:cNvSpPr txBox="1"/>
          <p:nvPr/>
        </p:nvSpPr>
        <p:spPr>
          <a:xfrm>
            <a:off x="977579" y="3828750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350" b="1" dirty="0">
                <a:solidFill>
                  <a:srgbClr val="C4C8CC"/>
                </a:solidFill>
              </a:rPr>
              <a:t>DB :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dirty="0"/>
          </a:p>
        </p:txBody>
      </p:sp>
      <p:sp>
        <p:nvSpPr>
          <p:cNvPr id="25" name="Google Shape;303;p24">
            <a:extLst>
              <a:ext uri="{FF2B5EF4-FFF2-40B4-BE49-F238E27FC236}">
                <a16:creationId xmlns:a16="http://schemas.microsoft.com/office/drawing/2014/main" id="{885278E1-B64B-8343-4575-569D0F0C459E}"/>
              </a:ext>
            </a:extLst>
          </p:cNvPr>
          <p:cNvSpPr txBox="1"/>
          <p:nvPr/>
        </p:nvSpPr>
        <p:spPr>
          <a:xfrm>
            <a:off x="977579" y="4198290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Load Tool </a:t>
            </a:r>
            <a:r>
              <a:rPr lang="en-US" sz="1350" dirty="0">
                <a:solidFill>
                  <a:srgbClr val="C4C8CC"/>
                </a:solidFill>
              </a:rPr>
              <a:t>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K6</a:t>
            </a:r>
            <a:endParaRPr dirty="0"/>
          </a:p>
        </p:txBody>
      </p:sp>
      <p:sp>
        <p:nvSpPr>
          <p:cNvPr id="27" name="Google Shape;306;p24">
            <a:extLst>
              <a:ext uri="{FF2B5EF4-FFF2-40B4-BE49-F238E27FC236}">
                <a16:creationId xmlns:a16="http://schemas.microsoft.com/office/drawing/2014/main" id="{94EBEEC0-A564-B731-9420-5BE500102F57}"/>
              </a:ext>
            </a:extLst>
          </p:cNvPr>
          <p:cNvSpPr txBox="1"/>
          <p:nvPr/>
        </p:nvSpPr>
        <p:spPr>
          <a:xfrm>
            <a:off x="787079" y="3828750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9" name="Google Shape;307;p24">
            <a:extLst>
              <a:ext uri="{FF2B5EF4-FFF2-40B4-BE49-F238E27FC236}">
                <a16:creationId xmlns:a16="http://schemas.microsoft.com/office/drawing/2014/main" id="{81F2F3B7-E6DF-A225-3AC6-962FA806FCF3}"/>
              </a:ext>
            </a:extLst>
          </p:cNvPr>
          <p:cNvSpPr txBox="1"/>
          <p:nvPr/>
        </p:nvSpPr>
        <p:spPr>
          <a:xfrm>
            <a:off x="787079" y="4198290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1" name="Google Shape;303;p24">
            <a:extLst>
              <a:ext uri="{FF2B5EF4-FFF2-40B4-BE49-F238E27FC236}">
                <a16:creationId xmlns:a16="http://schemas.microsoft.com/office/drawing/2014/main" id="{0832A302-42F3-04E8-4855-5ADED1F568AB}"/>
              </a:ext>
            </a:extLst>
          </p:cNvPr>
          <p:cNvSpPr txBox="1"/>
          <p:nvPr/>
        </p:nvSpPr>
        <p:spPr>
          <a:xfrm>
            <a:off x="977579" y="4578183"/>
            <a:ext cx="440754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Docker: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(rate &lt; 1% PASS)</a:t>
            </a:r>
            <a:endParaRPr dirty="0"/>
          </a:p>
        </p:txBody>
      </p:sp>
      <p:sp>
        <p:nvSpPr>
          <p:cNvPr id="33" name="Google Shape;307;p24">
            <a:extLst>
              <a:ext uri="{FF2B5EF4-FFF2-40B4-BE49-F238E27FC236}">
                <a16:creationId xmlns:a16="http://schemas.microsoft.com/office/drawing/2014/main" id="{AB3FAC57-4397-38FE-2CF7-69019A778188}"/>
              </a:ext>
            </a:extLst>
          </p:cNvPr>
          <p:cNvSpPr txBox="1"/>
          <p:nvPr/>
        </p:nvSpPr>
        <p:spPr>
          <a:xfrm>
            <a:off x="787079" y="4578183"/>
            <a:ext cx="49523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pic>
        <p:nvPicPr>
          <p:cNvPr id="35" name="Google Shape;293;p24" descr="image.png">
            <a:extLst>
              <a:ext uri="{FF2B5EF4-FFF2-40B4-BE49-F238E27FC236}">
                <a16:creationId xmlns:a16="http://schemas.microsoft.com/office/drawing/2014/main" id="{1CB7D5C0-5EBD-0916-B5F0-E66CDA8CEF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8900" y="1725026"/>
            <a:ext cx="5276850" cy="381663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00;p24">
            <a:extLst>
              <a:ext uri="{FF2B5EF4-FFF2-40B4-BE49-F238E27FC236}">
                <a16:creationId xmlns:a16="http://schemas.microsoft.com/office/drawing/2014/main" id="{1097DBAA-9682-A9B1-A297-D3E34DA63B89}"/>
              </a:ext>
            </a:extLst>
          </p:cNvPr>
          <p:cNvSpPr txBox="1"/>
          <p:nvPr/>
        </p:nvSpPr>
        <p:spPr>
          <a:xfrm>
            <a:off x="6676699" y="1919774"/>
            <a:ext cx="480125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k6</a:t>
            </a: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의 검출 시 </a:t>
            </a:r>
            <a:endParaRPr dirty="0"/>
          </a:p>
        </p:txBody>
      </p:sp>
      <p:sp>
        <p:nvSpPr>
          <p:cNvPr id="40" name="Google Shape;301;p24">
            <a:extLst>
              <a:ext uri="{FF2B5EF4-FFF2-40B4-BE49-F238E27FC236}">
                <a16:creationId xmlns:a16="http://schemas.microsoft.com/office/drawing/2014/main" id="{75CDC64E-5F44-09E9-710C-AAE4C4590CCF}"/>
              </a:ext>
            </a:extLst>
          </p:cNvPr>
          <p:cNvSpPr txBox="1"/>
          <p:nvPr/>
        </p:nvSpPr>
        <p:spPr>
          <a:xfrm>
            <a:off x="6685572" y="2347337"/>
            <a:ext cx="2265923" cy="136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OS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기준 </a:t>
            </a: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P95 </a:t>
            </a:r>
            <a:r>
              <a:rPr lang="ko-KR" alt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와 </a:t>
            </a:r>
            <a:r>
              <a:rPr lang="en-US" altLang="ko-KR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P90</a:t>
            </a:r>
            <a:r>
              <a:rPr lang="en-US" sz="1350" b="1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pPr lvl="0">
              <a:lnSpc>
                <a:spcPct val="160000"/>
              </a:lnSpc>
            </a:pPr>
            <a:r>
              <a:rPr lang="en-US" altLang="ko-KR" b="1" dirty="0">
                <a:solidFill>
                  <a:srgbClr val="C4C8CC"/>
                </a:solidFill>
              </a:rPr>
              <a:t>VUs </a:t>
            </a:r>
            <a:r>
              <a:rPr lang="ko-KR" altLang="en-US" b="1" dirty="0">
                <a:solidFill>
                  <a:srgbClr val="C4C8CC"/>
                </a:solidFill>
              </a:rPr>
              <a:t>와 </a:t>
            </a:r>
            <a:r>
              <a:rPr lang="en-US" altLang="ko-KR" b="1" dirty="0">
                <a:solidFill>
                  <a:srgbClr val="C4C8CC"/>
                </a:solidFill>
              </a:rPr>
              <a:t>M </a:t>
            </a:r>
            <a:r>
              <a:rPr lang="ko-KR" altLang="en-US" b="1" dirty="0">
                <a:solidFill>
                  <a:srgbClr val="C4C8CC"/>
                </a:solidFill>
              </a:rPr>
              <a:t>기준</a:t>
            </a:r>
            <a:endParaRPr lang="en-US" altLang="ko-KR" b="1" dirty="0">
              <a:solidFill>
                <a:srgbClr val="C4C8CC"/>
              </a:solidFill>
            </a:endParaRPr>
          </a:p>
          <a:p>
            <a:pPr lvl="0">
              <a:lnSpc>
                <a:spcPct val="160000"/>
              </a:lnSpc>
            </a:pPr>
            <a:r>
              <a:rPr lang="ko-KR" altLang="en-US" b="1" dirty="0">
                <a:solidFill>
                  <a:srgbClr val="C4C8CC"/>
                </a:solidFill>
              </a:rPr>
              <a:t>실패율 측정 기준 </a:t>
            </a:r>
            <a:r>
              <a:rPr lang="en-US" altLang="ko-KR" b="1" dirty="0">
                <a:solidFill>
                  <a:srgbClr val="C4C8CC"/>
                </a:solidFill>
              </a:rPr>
              <a:t>0</a:t>
            </a:r>
          </a:p>
          <a:p>
            <a:pPr lvl="0">
              <a:lnSpc>
                <a:spcPct val="160000"/>
              </a:lnSpc>
            </a:pPr>
            <a:r>
              <a:rPr lang="en-US" altLang="ko-KR" dirty="0">
                <a:solidFill>
                  <a:srgbClr val="10B981"/>
                </a:solidFill>
              </a:rPr>
              <a:t> (</a:t>
            </a:r>
            <a:r>
              <a:rPr lang="ko-KR" altLang="en-US" dirty="0">
                <a:solidFill>
                  <a:srgbClr val="10B981"/>
                </a:solidFill>
              </a:rPr>
              <a:t>윈도우</a:t>
            </a:r>
            <a:r>
              <a:rPr lang="en-US" altLang="ko-KR" dirty="0">
                <a:solidFill>
                  <a:srgbClr val="10B981"/>
                </a:solidFill>
              </a:rPr>
              <a:t>, </a:t>
            </a:r>
            <a:r>
              <a:rPr lang="ko-KR" altLang="en-US" dirty="0">
                <a:solidFill>
                  <a:srgbClr val="10B981"/>
                </a:solidFill>
              </a:rPr>
              <a:t>리눅스 등</a:t>
            </a:r>
            <a:r>
              <a:rPr lang="en-US" altLang="ko-KR" dirty="0">
                <a:solidFill>
                  <a:srgbClr val="10B981"/>
                </a:solidFill>
              </a:rPr>
              <a:t>)</a:t>
            </a:r>
            <a:endParaRPr lang="en-US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FA54C1E6-9523-52AA-3B3B-B9E108FD1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915802"/>
              </p:ext>
            </p:extLst>
          </p:nvPr>
        </p:nvGraphicFramePr>
        <p:xfrm>
          <a:off x="9287401" y="2723599"/>
          <a:ext cx="2391444" cy="2438400"/>
        </p:xfrm>
        <a:graphic>
          <a:graphicData uri="http://schemas.openxmlformats.org/drawingml/2006/table">
            <a:tbl>
              <a:tblPr>
                <a:tableStyleId>{5B932A2A-4808-4FE6-9574-94F0112CCD8C}</a:tableStyleId>
              </a:tblPr>
              <a:tblGrid>
                <a:gridCol w="1195722">
                  <a:extLst>
                    <a:ext uri="{9D8B030D-6E8A-4147-A177-3AD203B41FA5}">
                      <a16:colId xmlns:a16="http://schemas.microsoft.com/office/drawing/2014/main" val="3980116685"/>
                    </a:ext>
                  </a:extLst>
                </a:gridCol>
                <a:gridCol w="1195722">
                  <a:extLst>
                    <a:ext uri="{9D8B030D-6E8A-4147-A177-3AD203B41FA5}">
                      <a16:colId xmlns:a16="http://schemas.microsoft.com/office/drawing/2014/main" val="2332243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66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Test 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7회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987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Max VU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XX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32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Avg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XX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69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P95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XX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2917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XX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86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Error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99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DB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dirty="0" err="1"/>
                        <a:t>Consistent</a:t>
                      </a:r>
                      <a:endParaRPr 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9619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43050"/>
            <a:ext cx="1102995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581025" y="1751707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Latency Distribution &amp; Observability Metrics (반복 측정 결과)</a:t>
            </a:r>
            <a:endParaRPr/>
          </a:p>
        </p:txBody>
      </p:sp>
      <p:graphicFrame>
        <p:nvGraphicFramePr>
          <p:cNvPr id="318" name="Google Shape;318;p25"/>
          <p:cNvGraphicFramePr/>
          <p:nvPr>
            <p:extLst>
              <p:ext uri="{D42A27DB-BD31-4B8C-83A1-F6EECF244321}">
                <p14:modId xmlns:p14="http://schemas.microsoft.com/office/powerpoint/2010/main" val="2303968522"/>
              </p:ext>
            </p:extLst>
          </p:nvPr>
        </p:nvGraphicFramePr>
        <p:xfrm>
          <a:off x="581025" y="2216497"/>
          <a:ext cx="8015137" cy="3112625"/>
        </p:xfrm>
        <a:graphic>
          <a:graphicData uri="http://schemas.openxmlformats.org/drawingml/2006/table">
            <a:tbl>
              <a:tblPr firstRow="1" bandRow="1">
                <a:noFill/>
                <a:tableStyleId>{5B932A2A-4808-4FE6-9574-94F0112CCD8C}</a:tableStyleId>
              </a:tblPr>
              <a:tblGrid>
                <a:gridCol w="1480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5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Run 차수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VU /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평균 응답 (Avg)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95 백분위 (P95)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처리량 (RPS)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 err="1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오류율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5차 Run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VU / 60s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4.73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8.77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469 req/s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6차 Run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VU / 60s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6.01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10.61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457 req/s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7차 Run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VU / 60s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6.18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10.57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465 req/s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3회 평균 (Fact)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VU / 1m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5.64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9.98 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463 req/s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9" name="Google Shape;319;p25"/>
          <p:cNvSpPr/>
          <p:nvPr/>
        </p:nvSpPr>
        <p:spPr>
          <a:xfrm>
            <a:off x="585787" y="2807940"/>
            <a:ext cx="2035968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2621756" y="2807940"/>
            <a:ext cx="1686371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4308127" y="2807940"/>
            <a:ext cx="21273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6435476" y="2807940"/>
            <a:ext cx="21654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8600926" y="2807940"/>
            <a:ext cx="1823442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0424368" y="2807940"/>
            <a:ext cx="1181844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85787" y="3434655"/>
            <a:ext cx="2035968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2621756" y="3434655"/>
            <a:ext cx="1686371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4308127" y="3434655"/>
            <a:ext cx="21273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6435476" y="3434655"/>
            <a:ext cx="21654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8600926" y="3434655"/>
            <a:ext cx="1823442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10424368" y="3434655"/>
            <a:ext cx="1181844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85787" y="4061370"/>
            <a:ext cx="2035968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2621756" y="4061370"/>
            <a:ext cx="1686371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4308127" y="4061370"/>
            <a:ext cx="21273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6435476" y="4061370"/>
            <a:ext cx="21654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8600926" y="4061370"/>
            <a:ext cx="1823442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10424368" y="4061370"/>
            <a:ext cx="1181844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585787" y="4688085"/>
            <a:ext cx="2035968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2621756" y="4688085"/>
            <a:ext cx="1686371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4308127" y="4688085"/>
            <a:ext cx="21273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6435476" y="4688085"/>
            <a:ext cx="2165449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8600926" y="4688085"/>
            <a:ext cx="1823442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10424368" y="4688085"/>
            <a:ext cx="1181844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통계 자료</a:t>
            </a:r>
            <a:endParaRPr dirty="0"/>
          </a:p>
        </p:txBody>
      </p:sp>
      <p:sp>
        <p:nvSpPr>
          <p:cNvPr id="344" name="Google Shape;344;p25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EB1B7BDE-94AB-656F-3244-D9405D0986CE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12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 txBox="1"/>
          <p:nvPr/>
        </p:nvSpPr>
        <p:spPr>
          <a:xfrm>
            <a:off x="581025" y="1695598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Claim-to-Evidence Traceability &amp; Verification Matrix</a:t>
            </a:r>
            <a:endParaRPr/>
          </a:p>
        </p:txBody>
      </p:sp>
      <p:graphicFrame>
        <p:nvGraphicFramePr>
          <p:cNvPr id="352" name="Google Shape;352;p26"/>
          <p:cNvGraphicFramePr/>
          <p:nvPr>
            <p:extLst>
              <p:ext uri="{D42A27DB-BD31-4B8C-83A1-F6EECF244321}">
                <p14:modId xmlns:p14="http://schemas.microsoft.com/office/powerpoint/2010/main" val="2018195610"/>
              </p:ext>
            </p:extLst>
          </p:nvPr>
        </p:nvGraphicFramePr>
        <p:xfrm>
          <a:off x="585811" y="2114644"/>
          <a:ext cx="11020400" cy="3964000"/>
        </p:xfrm>
        <a:graphic>
          <a:graphicData uri="http://schemas.openxmlformats.org/drawingml/2006/table">
            <a:tbl>
              <a:tblPr firstRow="1" bandRow="1">
                <a:noFill/>
                <a:tableStyleId>{5B932A2A-4808-4FE6-9574-94F0112CCD8C}</a:tableStyleId>
              </a:tblPr>
              <a:tblGrid>
                <a:gridCol w="209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Domain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Engineering Claim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Verification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3F4F6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Token(1h) + RTR(7d) + Redis Blacklist 세션 통제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SecurityIntegrationTest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 VU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부하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환경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평균</a:t>
                      </a:r>
                      <a:r>
                        <a:rPr lang="en-US" sz="1350" b="0" i="0" u="none" strike="noStrike" cap="none" dirty="0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5.64ms, P95 9.98ms, 0% </a:t>
                      </a:r>
                      <a:r>
                        <a:rPr lang="en-US" sz="1350" b="0" i="0" u="none" strike="noStrike" cap="none" dirty="0" err="1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에러율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k6/scenarios/load.test.js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Infra &amp; 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Nginx 80 단일 Gateway 및 7개 도커 서비스 브리지 격리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docker-compose.yml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Process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SA-1 8단계 AI 라이프사이클 &amp; Docs-First 거버넌스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4C8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task_progress.md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3" name="Google Shape;353;p26"/>
          <p:cNvSpPr/>
          <p:nvPr/>
        </p:nvSpPr>
        <p:spPr>
          <a:xfrm>
            <a:off x="585787" y="2751832"/>
            <a:ext cx="209341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2679203" y="2751832"/>
            <a:ext cx="4402187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7081391" y="2751832"/>
            <a:ext cx="290378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9985176" y="2751832"/>
            <a:ext cx="162103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585787" y="3652837"/>
            <a:ext cx="209341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2679203" y="3652837"/>
            <a:ext cx="4402187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081391" y="3652837"/>
            <a:ext cx="290378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9985176" y="3652837"/>
            <a:ext cx="162103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585787" y="4553842"/>
            <a:ext cx="209341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2679203" y="4553842"/>
            <a:ext cx="4402187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081391" y="4553842"/>
            <a:ext cx="290378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9985176" y="4553842"/>
            <a:ext cx="162103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585787" y="5454848"/>
            <a:ext cx="2093416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2679203" y="5454848"/>
            <a:ext cx="4402187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7081391" y="5454848"/>
            <a:ext cx="290378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9985176" y="5454848"/>
            <a:ext cx="1621035" cy="9525"/>
          </a:xfrm>
          <a:prstGeom prst="rect">
            <a:avLst/>
          </a:prstGeom>
          <a:solidFill>
            <a:srgbClr val="3D42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6770" y="3919254"/>
            <a:ext cx="766018" cy="29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75298" y="4789807"/>
            <a:ext cx="988962" cy="293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2505" y="5577666"/>
            <a:ext cx="914548" cy="29334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F3F4F6"/>
                </a:solidFill>
              </a:rPr>
              <a:t>증빙 자료 </a:t>
            </a:r>
            <a:r>
              <a:rPr lang="en-US" altLang="ko-KR" sz="3000" dirty="0">
                <a:solidFill>
                  <a:srgbClr val="F3F4F6"/>
                </a:solidFill>
              </a:rPr>
              <a:t>/ </a:t>
            </a:r>
            <a:r>
              <a:rPr lang="ko-KR" altLang="en-US" sz="3000" dirty="0">
                <a:solidFill>
                  <a:srgbClr val="F3F4F6"/>
                </a:solidFill>
              </a:rPr>
              <a:t>교차 검증</a:t>
            </a:r>
            <a:endParaRPr dirty="0"/>
          </a:p>
        </p:txBody>
      </p:sp>
      <p:sp>
        <p:nvSpPr>
          <p:cNvPr id="374" name="Google Shape;374;p26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A2584385-7327-2A12-A5E5-67FE6D503B3C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13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370;p26" descr="image.png">
            <a:extLst>
              <a:ext uri="{FF2B5EF4-FFF2-40B4-BE49-F238E27FC236}">
                <a16:creationId xmlns:a16="http://schemas.microsoft.com/office/drawing/2014/main" id="{E3F7EA7D-E661-06A6-333C-8E33C13C2E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6770" y="3014269"/>
            <a:ext cx="766018" cy="29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29842"/>
            <a:ext cx="35242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3029842"/>
            <a:ext cx="3524250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3029842"/>
            <a:ext cx="3524250" cy="22249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581025" y="256505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Local Docker Cluster Gateway Port Mapping</a:t>
            </a:r>
            <a:endParaRPr/>
          </a:p>
        </p:txBody>
      </p:sp>
      <p:pic>
        <p:nvPicPr>
          <p:cNvPr id="385" name="Google Shape;385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3325117"/>
            <a:ext cx="691604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7"/>
          <p:cNvSpPr txBox="1"/>
          <p:nvPr/>
        </p:nvSpPr>
        <p:spPr>
          <a:xfrm>
            <a:off x="876300" y="3706117"/>
            <a:ext cx="162192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Web SPA Client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876300" y="4049017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Nginx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정적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SPA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서빙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및 사용자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로그인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메뉴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인가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인터페이스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제공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388" name="Google Shape;388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3325117"/>
            <a:ext cx="1434703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7"/>
          <p:cNvSpPr txBox="1"/>
          <p:nvPr/>
        </p:nvSpPr>
        <p:spPr>
          <a:xfrm>
            <a:off x="4629150" y="3706117"/>
            <a:ext cx="187085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Backend &amp; Health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4629150" y="4049017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Spring Boot REST API 엔드포인트 및 Actuator Health Probe.</a:t>
            </a:r>
            <a:endParaRPr/>
          </a:p>
        </p:txBody>
      </p:sp>
      <p:pic>
        <p:nvPicPr>
          <p:cNvPr id="391" name="Google Shape;391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0" y="3325117"/>
            <a:ext cx="840283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7"/>
          <p:cNvSpPr txBox="1"/>
          <p:nvPr/>
        </p:nvSpPr>
        <p:spPr>
          <a:xfrm>
            <a:off x="8382000" y="3706117"/>
            <a:ext cx="167536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Observability UI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8382000" y="4049017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Grafana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메트릭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대시보드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(JVM Heap,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cAdvisor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컨테이너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리소스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모니터링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dirty="0"/>
          </a:p>
        </p:txBody>
      </p:sp>
      <p:sp>
        <p:nvSpPr>
          <p:cNvPr id="394" name="Google Shape;394;p27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라이브 서비스 </a:t>
            </a:r>
            <a:r>
              <a:rPr 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endParaRPr dirty="0"/>
          </a:p>
        </p:txBody>
      </p:sp>
      <p:sp>
        <p:nvSpPr>
          <p:cNvPr id="395" name="Google Shape;395;p27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24D6FF0E-2E02-05DA-6CF2-BCA79DF54550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14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36501"/>
            <a:ext cx="5276850" cy="521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36501"/>
            <a:ext cx="5276850" cy="521181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8"/>
          <p:cNvSpPr txBox="1"/>
          <p:nvPr/>
        </p:nvSpPr>
        <p:spPr>
          <a:xfrm>
            <a:off x="581025" y="1071711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Fact-Plan Separation &amp; Verified Engineering Summary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971550" y="1927026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01. </a:t>
            </a: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검증된 성과</a:t>
            </a:r>
            <a:endParaRPr dirty="0"/>
          </a:p>
        </p:txBody>
      </p:sp>
      <p:sp>
        <p:nvSpPr>
          <p:cNvPr id="406" name="Google Shape;406;p28"/>
          <p:cNvSpPr/>
          <p:nvPr/>
        </p:nvSpPr>
        <p:spPr>
          <a:xfrm>
            <a:off x="971550" y="2327076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971550" y="4422427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02. </a:t>
            </a: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알려진 한계</a:t>
            </a:r>
            <a:endParaRPr dirty="0"/>
          </a:p>
        </p:txBody>
      </p:sp>
      <p:sp>
        <p:nvSpPr>
          <p:cNvPr id="408" name="Google Shape;408;p28"/>
          <p:cNvSpPr/>
          <p:nvPr/>
        </p:nvSpPr>
        <p:spPr>
          <a:xfrm>
            <a:off x="971550" y="4822477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 txBox="1"/>
          <p:nvPr/>
        </p:nvSpPr>
        <p:spPr>
          <a:xfrm>
            <a:off x="6724650" y="1927026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03. </a:t>
            </a: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이후 방향</a:t>
            </a:r>
            <a:endParaRPr dirty="0"/>
          </a:p>
        </p:txBody>
      </p:sp>
      <p:sp>
        <p:nvSpPr>
          <p:cNvPr id="410" name="Google Shape;410;p28"/>
          <p:cNvSpPr/>
          <p:nvPr/>
        </p:nvSpPr>
        <p:spPr>
          <a:xfrm>
            <a:off x="6724650" y="2327076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6724650" y="4422427"/>
            <a:ext cx="472059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04. </a:t>
            </a:r>
            <a:r>
              <a:rPr lang="ko-KR" altLang="en-US" sz="2100" b="1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공학적 정체성</a:t>
            </a:r>
            <a:endParaRPr dirty="0"/>
          </a:p>
        </p:txBody>
      </p:sp>
      <p:sp>
        <p:nvSpPr>
          <p:cNvPr id="412" name="Google Shape;412;p28"/>
          <p:cNvSpPr/>
          <p:nvPr/>
        </p:nvSpPr>
        <p:spPr>
          <a:xfrm>
            <a:off x="6724650" y="4822477"/>
            <a:ext cx="4495800" cy="9525"/>
          </a:xfrm>
          <a:prstGeom prst="rect">
            <a:avLst/>
          </a:prstGeom>
          <a:solidFill>
            <a:srgbClr val="4A4F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 txBox="1"/>
          <p:nvPr/>
        </p:nvSpPr>
        <p:spPr>
          <a:xfrm>
            <a:off x="6724650" y="4974877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Zero-Hallucination • Evidence-First • Controlled AI Governance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6724650" y="5666333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객관적 지표와 철저한 모니터링을 바탕으로 시스템 아키텍처의 한계를 검증하고 발전시킵니다.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1162050" y="2479476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Stateless JWT + RTR 1회용 JTI + Redis Blacklist 세션 통제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1162050" y="3170932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7개 도커 서비스 포트 격리 및 Nginx Port 80 단일화</a:t>
            </a:r>
            <a:endParaRPr/>
          </a:p>
        </p:txBody>
      </p:sp>
      <p:sp>
        <p:nvSpPr>
          <p:cNvPr id="417" name="Google Shape;417;p28"/>
          <p:cNvSpPr txBox="1"/>
          <p:nvPr/>
        </p:nvSpPr>
        <p:spPr>
          <a:xfrm>
            <a:off x="1162050" y="3588097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k6 70 VU 실측 통과 (Avg 5.64ms, P95 9.98ms, 0% Error)</a:t>
            </a:r>
            <a:endParaRPr/>
          </a:p>
        </p:txBody>
      </p:sp>
      <p:sp>
        <p:nvSpPr>
          <p:cNvPr id="418" name="Google Shape;418;p28"/>
          <p:cNvSpPr txBox="1"/>
          <p:nvPr/>
        </p:nvSpPr>
        <p:spPr>
          <a:xfrm>
            <a:off x="1162050" y="4974877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단일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노드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인프라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(다중 컨테이너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오토스케일링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미적용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sp>
        <p:nvSpPr>
          <p:cNvPr id="419" name="Google Shape;419;p28"/>
          <p:cNvSpPr txBox="1"/>
          <p:nvPr/>
        </p:nvSpPr>
        <p:spPr>
          <a:xfrm>
            <a:off x="1162050" y="5392042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수동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배포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환경 (CI/CD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완전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자동화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파이프라인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미구성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</p:txBody>
      </p:sp>
      <p:pic>
        <p:nvPicPr>
          <p:cNvPr id="420" name="Google Shape;42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28845" y="1927026"/>
            <a:ext cx="691604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8"/>
          <p:cNvSpPr txBox="1"/>
          <p:nvPr/>
        </p:nvSpPr>
        <p:spPr>
          <a:xfrm>
            <a:off x="6915150" y="2479476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JPA N+1 쿼리 최적화 전/후 실행 쿼리수 및 힙 메모리 정밀 분석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915150" y="3170932"/>
            <a:ext cx="43053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Message Queue (Kafka / RabbitMQ) 비동기 파이프라인 도입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6915150" y="3862387"/>
            <a:ext cx="4305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Redis Cluster 다중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노드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분산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고가용성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구성</a:t>
            </a:r>
            <a:r>
              <a:rPr lang="en-US" sz="135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endParaRPr dirty="0"/>
          </a:p>
        </p:txBody>
      </p:sp>
      <p:sp>
        <p:nvSpPr>
          <p:cNvPr id="424" name="Google Shape;424;p28"/>
          <p:cNvSpPr txBox="1"/>
          <p:nvPr/>
        </p:nvSpPr>
        <p:spPr>
          <a:xfrm>
            <a:off x="971550" y="247947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971550" y="31709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6" name="Google Shape;426;p28"/>
          <p:cNvSpPr txBox="1"/>
          <p:nvPr/>
        </p:nvSpPr>
        <p:spPr>
          <a:xfrm>
            <a:off x="971550" y="358809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7" name="Google Shape;427;p28"/>
          <p:cNvSpPr txBox="1"/>
          <p:nvPr/>
        </p:nvSpPr>
        <p:spPr>
          <a:xfrm>
            <a:off x="971550" y="497487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8" name="Google Shape;428;p28"/>
          <p:cNvSpPr txBox="1"/>
          <p:nvPr/>
        </p:nvSpPr>
        <p:spPr>
          <a:xfrm>
            <a:off x="971550" y="539204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9" name="Google Shape;429;p28"/>
          <p:cNvSpPr txBox="1"/>
          <p:nvPr/>
        </p:nvSpPr>
        <p:spPr>
          <a:xfrm>
            <a:off x="6724650" y="247947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30" name="Google Shape;430;p28"/>
          <p:cNvSpPr txBox="1"/>
          <p:nvPr/>
        </p:nvSpPr>
        <p:spPr>
          <a:xfrm>
            <a:off x="6724650" y="317093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31" name="Google Shape;431;p28"/>
          <p:cNvSpPr txBox="1"/>
          <p:nvPr/>
        </p:nvSpPr>
        <p:spPr>
          <a:xfrm>
            <a:off x="6724650" y="38623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581025" y="109686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로드맵</a:t>
            </a:r>
            <a:r>
              <a:rPr 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ko-KR" altLang="en-US" sz="3000" b="0" i="0" u="none" strike="noStrike" cap="none" dirty="0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맺음말</a:t>
            </a:r>
            <a:endParaRPr dirty="0"/>
          </a:p>
        </p:txBody>
      </p:sp>
      <p:sp>
        <p:nvSpPr>
          <p:cNvPr id="433" name="Google Shape;433;p28"/>
          <p:cNvSpPr/>
          <p:nvPr/>
        </p:nvSpPr>
        <p:spPr>
          <a:xfrm>
            <a:off x="581025" y="681186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C9FAEC03-8EDA-BB98-82AB-240891615774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15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85630" y="3671887"/>
            <a:ext cx="857250" cy="7009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9"/>
          <p:cNvSpPr txBox="1"/>
          <p:nvPr/>
        </p:nvSpPr>
        <p:spPr>
          <a:xfrm>
            <a:off x="6381005" y="3811934"/>
            <a:ext cx="525214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endParaRPr dirty="0"/>
          </a:p>
        </p:txBody>
      </p:sp>
      <p:sp>
        <p:nvSpPr>
          <p:cNvPr id="441" name="Google Shape;441;p29"/>
          <p:cNvSpPr txBox="1"/>
          <p:nvPr/>
        </p:nvSpPr>
        <p:spPr>
          <a:xfrm>
            <a:off x="581025" y="58102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442" name="Google Shape;442;p29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13;p16">
            <a:extLst>
              <a:ext uri="{FF2B5EF4-FFF2-40B4-BE49-F238E27FC236}">
                <a16:creationId xmlns:a16="http://schemas.microsoft.com/office/drawing/2014/main" id="{40439F5D-863F-CD18-3286-17D286316514}"/>
              </a:ext>
            </a:extLst>
          </p:cNvPr>
          <p:cNvSpPr/>
          <p:nvPr/>
        </p:nvSpPr>
        <p:spPr>
          <a:xfrm>
            <a:off x="10639275" y="604425"/>
            <a:ext cx="971700" cy="295200"/>
          </a:xfrm>
          <a:prstGeom prst="roundRect">
            <a:avLst>
              <a:gd name="adj" fmla="val 34186"/>
            </a:avLst>
          </a:prstGeom>
          <a:solidFill>
            <a:srgbClr val="4A4F54"/>
          </a:solidFill>
          <a:ln w="9525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SLIDE 16</a:t>
            </a:r>
            <a:endParaRPr b="1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103" y="36717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0"/>
          <p:cNvSpPr txBox="1"/>
          <p:nvPr/>
        </p:nvSpPr>
        <p:spPr>
          <a:xfrm>
            <a:off x="4733478" y="3665190"/>
            <a:ext cx="3820417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https://godleon.github.io/blog/images/kubernetes/k8s-architecture.png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4733478" y="3910905"/>
            <a:ext cx="3820417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4C8CC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godleon.github.io</a:t>
            </a:r>
            <a:endParaRPr/>
          </a:p>
        </p:txBody>
      </p:sp>
      <p:sp>
        <p:nvSpPr>
          <p:cNvPr id="450" name="Google Shape;450;p30"/>
          <p:cNvSpPr txBox="1"/>
          <p:nvPr/>
        </p:nvSpPr>
        <p:spPr>
          <a:xfrm>
            <a:off x="581025" y="581025"/>
            <a:ext cx="1158144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Image Sources</a:t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581025" y="1152525"/>
            <a:ext cx="110299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1882</Words>
  <Application>Microsoft Office PowerPoint</Application>
  <PresentationFormat>와이드스크린</PresentationFormat>
  <Paragraphs>321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Arial</vt:lpstr>
      <vt:lpstr>JetBrains Mono</vt:lpstr>
      <vt:lpstr>Calibri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인찬 황</cp:lastModifiedBy>
  <cp:revision>10</cp:revision>
  <dcterms:modified xsi:type="dcterms:W3CDTF">2026-08-28T15:07:40Z</dcterms:modified>
</cp:coreProperties>
</file>